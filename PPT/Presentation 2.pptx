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23"/>
  </p:notesMasterIdLst>
  <p:sldIdLst>
    <p:sldId id="256" r:id="rId2"/>
    <p:sldId id="288" r:id="rId3"/>
    <p:sldId id="257" r:id="rId4"/>
    <p:sldId id="258" r:id="rId5"/>
    <p:sldId id="289" r:id="rId6"/>
    <p:sldId id="295" r:id="rId7"/>
    <p:sldId id="296" r:id="rId8"/>
    <p:sldId id="303" r:id="rId9"/>
    <p:sldId id="262" r:id="rId10"/>
    <p:sldId id="300" r:id="rId11"/>
    <p:sldId id="302" r:id="rId12"/>
    <p:sldId id="301" r:id="rId13"/>
    <p:sldId id="304" r:id="rId14"/>
    <p:sldId id="259" r:id="rId15"/>
    <p:sldId id="285" r:id="rId16"/>
    <p:sldId id="307" r:id="rId17"/>
    <p:sldId id="309" r:id="rId18"/>
    <p:sldId id="310" r:id="rId19"/>
    <p:sldId id="311" r:id="rId20"/>
    <p:sldId id="299" r:id="rId21"/>
    <p:sldId id="312" r:id="rId22"/>
  </p:sldIdLst>
  <p:sldSz cx="12192000" cy="6858000"/>
  <p:notesSz cx="6761163" cy="99425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5B7B869-3AC7-49EB-B03D-8111693F34A8}">
  <a:tblStyle styleId="{55B7B869-3AC7-49EB-B03D-8111693F34A8}" styleName="Table_0">
    <a:wholeTbl>
      <a:tcTxStyle b="off" i="off">
        <a:font>
          <a:latin typeface="Calibri"/>
          <a:ea typeface="Calibri"/>
          <a:cs typeface="Calibri"/>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rgbClr val="FFFFFF"/>
      </a:tcTxStyle>
      <a:tcStyle>
        <a:tcBdr/>
        <a:fill>
          <a:solidFill>
            <a:srgbClr val="4472C4"/>
          </a:solidFill>
        </a:fill>
      </a:tcStyle>
    </a:lastCol>
    <a:firstCol>
      <a:tcTxStyle b="on" i="off">
        <a:font>
          <a:latin typeface="Calibri"/>
          <a:ea typeface="Calibri"/>
          <a:cs typeface="Calibri"/>
        </a:font>
        <a:srgbClr val="FFFFFF"/>
      </a:tcTxStyle>
      <a:tcStyle>
        <a:tcBdr/>
        <a:fill>
          <a:solidFill>
            <a:srgbClr val="4472C4"/>
          </a:solidFill>
        </a:fill>
      </a:tcStyle>
    </a:firstCol>
    <a:lastRow>
      <a:tcTxStyle b="on" i="off">
        <a:font>
          <a:latin typeface="Calibri"/>
          <a:ea typeface="Calibri"/>
          <a:cs typeface="Calibri"/>
        </a:font>
        <a:srgbClr val="FFFFFF"/>
      </a:tcTxStyle>
      <a:tcStyle>
        <a:tcBdr>
          <a:top>
            <a:ln w="38100" cap="flat" cmpd="sng">
              <a:solidFill>
                <a:srgbClr val="FFFFFF"/>
              </a:solidFill>
              <a:prstDash val="solid"/>
              <a:round/>
              <a:headEnd type="none" w="sm" len="sm"/>
              <a:tailEnd type="none" w="sm" len="sm"/>
            </a:ln>
          </a:top>
        </a:tcBdr>
        <a:fill>
          <a:solidFill>
            <a:srgbClr val="4472C4"/>
          </a:solidFill>
        </a:fill>
      </a:tcStyle>
    </a:lastRow>
    <a:seCell>
      <a:tcTxStyle/>
      <a:tcStyle>
        <a:tcBdr/>
      </a:tcStyle>
    </a:seCell>
    <a:swCell>
      <a:tcTxStyle/>
      <a:tcStyle>
        <a:tcBdr/>
      </a:tcStyle>
    </a:swCell>
    <a:firstRow>
      <a:tcTxStyle b="on" i="off">
        <a:font>
          <a:latin typeface="Calibri"/>
          <a:ea typeface="Calibri"/>
          <a:cs typeface="Calibri"/>
        </a:font>
        <a:srgbClr val="FFFFFF"/>
      </a:tcTxStyle>
      <a:tcStyle>
        <a:tcBdr>
          <a:bottom>
            <a:ln w="38100" cap="flat" cmpd="sng">
              <a:solidFill>
                <a:srgbClr val="FFFFFF"/>
              </a:solidFill>
              <a:prstDash val="solid"/>
              <a:round/>
              <a:headEnd type="none" w="sm" len="sm"/>
              <a:tailEnd type="none" w="sm" len="sm"/>
            </a:ln>
          </a:bottom>
        </a:tcBdr>
        <a:fill>
          <a:solidFill>
            <a:srgbClr val="4472C4"/>
          </a:solidFill>
        </a:fill>
      </a:tcStyle>
    </a:firstRow>
    <a:neCell>
      <a:tcTxStyle/>
      <a:tcStyle>
        <a:tcBdr/>
      </a:tcStyle>
    </a:neCell>
    <a:nwCell>
      <a:tcTxStyle/>
      <a:tcStyle>
        <a:tcBdr/>
      </a:tcStyle>
    </a:nwCell>
  </a:tblStyle>
  <a:tblStyle styleId="{A90CD6CD-D41D-4872-BF19-08B484A6A29E}" styleName="Table_1">
    <a:wholeTbl>
      <a:tcTxStyle>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14"/>
    <p:restoredTop sz="94625"/>
  </p:normalViewPr>
  <p:slideViewPr>
    <p:cSldViewPr snapToGrid="0">
      <p:cViewPr varScale="1">
        <p:scale>
          <a:sx n="68" d="100"/>
          <a:sy n="68" d="100"/>
        </p:scale>
        <p:origin x="556" y="6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29837" cy="49885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29761" y="0"/>
            <a:ext cx="2929837" cy="498852"/>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43662"/>
            <a:ext cx="2929837" cy="498851"/>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1: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09d83c21a1_0_12: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09d83c21a1_0_12:notes"/>
          <p:cNvSpPr txBox="1">
            <a:spLocks noGrp="1"/>
          </p:cNvSpPr>
          <p:nvPr>
            <p:ph type="body" idx="1"/>
          </p:nvPr>
        </p:nvSpPr>
        <p:spPr>
          <a:xfrm>
            <a:off x="676117" y="4784835"/>
            <a:ext cx="5409000" cy="3915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g309d83c21a1_0_12:notes"/>
          <p:cNvSpPr txBox="1">
            <a:spLocks noGrp="1"/>
          </p:cNvSpPr>
          <p:nvPr>
            <p:ph type="sldNum" idx="12"/>
          </p:nvPr>
        </p:nvSpPr>
        <p:spPr>
          <a:xfrm>
            <a:off x="3829761" y="9443662"/>
            <a:ext cx="2929800" cy="498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1391e1f74d_1_36: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1391e1f74d_1_36:notes"/>
          <p:cNvSpPr txBox="1">
            <a:spLocks noGrp="1"/>
          </p:cNvSpPr>
          <p:nvPr>
            <p:ph type="body" idx="1"/>
          </p:nvPr>
        </p:nvSpPr>
        <p:spPr>
          <a:xfrm>
            <a:off x="676117" y="4784835"/>
            <a:ext cx="5409000" cy="3915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g31391e1f74d_1_36:notes"/>
          <p:cNvSpPr txBox="1">
            <a:spLocks noGrp="1"/>
          </p:cNvSpPr>
          <p:nvPr>
            <p:ph type="sldNum" idx="12"/>
          </p:nvPr>
        </p:nvSpPr>
        <p:spPr>
          <a:xfrm>
            <a:off x="3829761" y="9443662"/>
            <a:ext cx="2929800" cy="498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09d83c21a1_0_18: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09d83c21a1_0_18:notes"/>
          <p:cNvSpPr txBox="1">
            <a:spLocks noGrp="1"/>
          </p:cNvSpPr>
          <p:nvPr>
            <p:ph type="body" idx="1"/>
          </p:nvPr>
        </p:nvSpPr>
        <p:spPr>
          <a:xfrm>
            <a:off x="676117" y="4784835"/>
            <a:ext cx="5409000" cy="3915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g309d83c21a1_0_18:notes"/>
          <p:cNvSpPr txBox="1">
            <a:spLocks noGrp="1"/>
          </p:cNvSpPr>
          <p:nvPr>
            <p:ph type="sldNum" idx="12"/>
          </p:nvPr>
        </p:nvSpPr>
        <p:spPr>
          <a:xfrm>
            <a:off x="3829761" y="9443662"/>
            <a:ext cx="2929800" cy="498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1391e1f74d_1_5: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1391e1f74d_1_5:notes"/>
          <p:cNvSpPr txBox="1">
            <a:spLocks noGrp="1"/>
          </p:cNvSpPr>
          <p:nvPr>
            <p:ph type="body" idx="1"/>
          </p:nvPr>
        </p:nvSpPr>
        <p:spPr>
          <a:xfrm>
            <a:off x="676117" y="4784835"/>
            <a:ext cx="5409000" cy="3915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g31391e1f74d_1_5:notes"/>
          <p:cNvSpPr txBox="1">
            <a:spLocks noGrp="1"/>
          </p:cNvSpPr>
          <p:nvPr>
            <p:ph type="sldNum" idx="12"/>
          </p:nvPr>
        </p:nvSpPr>
        <p:spPr>
          <a:xfrm>
            <a:off x="3829761" y="9443662"/>
            <a:ext cx="2929800" cy="498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a:extLst>
            <a:ext uri="{FF2B5EF4-FFF2-40B4-BE49-F238E27FC236}">
              <a16:creationId xmlns:a16="http://schemas.microsoft.com/office/drawing/2014/main" id="{B8F6DE27-3E6A-7456-4251-A606A626382A}"/>
            </a:ext>
          </a:extLst>
        </p:cNvPr>
        <p:cNvGrpSpPr/>
        <p:nvPr/>
      </p:nvGrpSpPr>
      <p:grpSpPr>
        <a:xfrm>
          <a:off x="0" y="0"/>
          <a:ext cx="0" cy="0"/>
          <a:chOff x="0" y="0"/>
          <a:chExt cx="0" cy="0"/>
        </a:xfrm>
      </p:grpSpPr>
      <p:sp>
        <p:nvSpPr>
          <p:cNvPr id="134" name="Google Shape;134;g31391e1f74d_1_16:notes">
            <a:extLst>
              <a:ext uri="{FF2B5EF4-FFF2-40B4-BE49-F238E27FC236}">
                <a16:creationId xmlns:a16="http://schemas.microsoft.com/office/drawing/2014/main" id="{5F08A7C8-D972-0C11-FE2D-DF7895003F5D}"/>
              </a:ext>
            </a:extLst>
          </p:cNvPr>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31391e1f74d_1_16:notes">
            <a:extLst>
              <a:ext uri="{FF2B5EF4-FFF2-40B4-BE49-F238E27FC236}">
                <a16:creationId xmlns:a16="http://schemas.microsoft.com/office/drawing/2014/main" id="{629BEB68-9C44-2C3B-6FBD-0F3B825E5BDC}"/>
              </a:ext>
            </a:extLst>
          </p:cNvPr>
          <p:cNvSpPr txBox="1">
            <a:spLocks noGrp="1"/>
          </p:cNvSpPr>
          <p:nvPr>
            <p:ph type="body" idx="1"/>
          </p:nvPr>
        </p:nvSpPr>
        <p:spPr>
          <a:xfrm>
            <a:off x="676117" y="4784835"/>
            <a:ext cx="5409000" cy="3915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g31391e1f74d_1_16:notes">
            <a:extLst>
              <a:ext uri="{FF2B5EF4-FFF2-40B4-BE49-F238E27FC236}">
                <a16:creationId xmlns:a16="http://schemas.microsoft.com/office/drawing/2014/main" id="{78D60AEE-62D7-B1F0-824F-C5F21B855C99}"/>
              </a:ext>
            </a:extLst>
          </p:cNvPr>
          <p:cNvSpPr txBox="1">
            <a:spLocks noGrp="1"/>
          </p:cNvSpPr>
          <p:nvPr>
            <p:ph type="sldNum" idx="12"/>
          </p:nvPr>
        </p:nvSpPr>
        <p:spPr>
          <a:xfrm>
            <a:off x="3829761" y="9443662"/>
            <a:ext cx="2929800" cy="498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1600645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4"/>
        <p:cNvGrpSpPr/>
        <p:nvPr/>
      </p:nvGrpSpPr>
      <p:grpSpPr>
        <a:xfrm>
          <a:off x="0" y="0"/>
          <a:ext cx="0" cy="0"/>
          <a:chOff x="0" y="0"/>
          <a:chExt cx="0" cy="0"/>
        </a:xfrm>
      </p:grpSpPr>
      <p:sp>
        <p:nvSpPr>
          <p:cNvPr id="25" name="Google Shape;25;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7" name="Google Shape;27;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b="0" i="0" u="none" strike="noStrike" cap="none">
                <a:solidFill>
                  <a:schemeClr val="dk1"/>
                </a:solidFill>
                <a:latin typeface="Calibri"/>
                <a:ea typeface="Calibri"/>
                <a:cs typeface="Calibri"/>
                <a:sym typeface="Calibri"/>
              </a:defRPr>
            </a:lvl1pPr>
            <a:lvl2pPr marL="0" marR="0" lvl="1" indent="0" algn="l" rtl="0">
              <a:spcBef>
                <a:spcPts val="0"/>
              </a:spcBef>
              <a:buNone/>
              <a:defRPr sz="1800" b="0" i="0" u="none" strike="noStrike" cap="none">
                <a:solidFill>
                  <a:schemeClr val="dk1"/>
                </a:solidFill>
                <a:latin typeface="Calibri"/>
                <a:ea typeface="Calibri"/>
                <a:cs typeface="Calibri"/>
                <a:sym typeface="Calibri"/>
              </a:defRPr>
            </a:lvl2pPr>
            <a:lvl3pPr marL="0" marR="0" lvl="2" indent="0" algn="l" rtl="0">
              <a:spcBef>
                <a:spcPts val="0"/>
              </a:spcBef>
              <a:buNone/>
              <a:defRPr sz="1800" b="0" i="0" u="none" strike="noStrike" cap="none">
                <a:solidFill>
                  <a:schemeClr val="dk1"/>
                </a:solidFill>
                <a:latin typeface="Calibri"/>
                <a:ea typeface="Calibri"/>
                <a:cs typeface="Calibri"/>
                <a:sym typeface="Calibri"/>
              </a:defRPr>
            </a:lvl3pPr>
            <a:lvl4pPr marL="0" marR="0" lvl="3" indent="0" algn="l" rtl="0">
              <a:spcBef>
                <a:spcPts val="0"/>
              </a:spcBef>
              <a:buNone/>
              <a:defRPr sz="1800" b="0" i="0" u="none" strike="noStrike" cap="none">
                <a:solidFill>
                  <a:schemeClr val="dk1"/>
                </a:solidFill>
                <a:latin typeface="Calibri"/>
                <a:ea typeface="Calibri"/>
                <a:cs typeface="Calibri"/>
                <a:sym typeface="Calibri"/>
              </a:defRPr>
            </a:lvl4pPr>
            <a:lvl5pPr marL="0" marR="0" lvl="4" indent="0" algn="l" rtl="0">
              <a:spcBef>
                <a:spcPts val="0"/>
              </a:spcBef>
              <a:buNone/>
              <a:defRPr sz="1800" b="0" i="0" u="none" strike="noStrike" cap="none">
                <a:solidFill>
                  <a:schemeClr val="dk1"/>
                </a:solidFill>
                <a:latin typeface="Calibri"/>
                <a:ea typeface="Calibri"/>
                <a:cs typeface="Calibri"/>
                <a:sym typeface="Calibri"/>
              </a:defRPr>
            </a:lvl5pPr>
            <a:lvl6pPr marL="0" marR="0" lvl="5" indent="0" algn="l" rtl="0">
              <a:spcBef>
                <a:spcPts val="0"/>
              </a:spcBef>
              <a:buNone/>
              <a:defRPr sz="1800" b="0" i="0" u="none" strike="noStrike" cap="none">
                <a:solidFill>
                  <a:schemeClr val="dk1"/>
                </a:solidFill>
                <a:latin typeface="Calibri"/>
                <a:ea typeface="Calibri"/>
                <a:cs typeface="Calibri"/>
                <a:sym typeface="Calibri"/>
              </a:defRPr>
            </a:lvl6pPr>
            <a:lvl7pPr marL="0" marR="0" lvl="6" indent="0" algn="l" rtl="0">
              <a:spcBef>
                <a:spcPts val="0"/>
              </a:spcBef>
              <a:buNone/>
              <a:defRPr sz="1800" b="0" i="0" u="none" strike="noStrike" cap="none">
                <a:solidFill>
                  <a:schemeClr val="dk1"/>
                </a:solidFill>
                <a:latin typeface="Calibri"/>
                <a:ea typeface="Calibri"/>
                <a:cs typeface="Calibri"/>
                <a:sym typeface="Calibri"/>
              </a:defRPr>
            </a:lvl7pPr>
            <a:lvl8pPr marL="0" marR="0" lvl="7" indent="0" algn="l" rtl="0">
              <a:spcBef>
                <a:spcPts val="0"/>
              </a:spcBef>
              <a:buNone/>
              <a:defRPr sz="1800" b="0" i="0" u="none" strike="noStrike" cap="none">
                <a:solidFill>
                  <a:schemeClr val="dk1"/>
                </a:solidFill>
                <a:latin typeface="Calibri"/>
                <a:ea typeface="Calibri"/>
                <a:cs typeface="Calibri"/>
                <a:sym typeface="Calibri"/>
              </a:defRPr>
            </a:lvl8pPr>
            <a:lvl9pPr marL="0" marR="0" lvl="8" indent="0" algn="l" rtl="0">
              <a:spcBef>
                <a:spcPts val="0"/>
              </a:spcBef>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0" name="Google Shape;30;p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1" name="Google Shape;31;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2" name="Google Shape;32;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3" name="Google Shape;33;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4"/>
        <p:cNvGrpSpPr/>
        <p:nvPr/>
      </p:nvGrpSpPr>
      <p:grpSpPr>
        <a:xfrm>
          <a:off x="0" y="0"/>
          <a:ext cx="0" cy="0"/>
          <a:chOff x="0" y="0"/>
          <a:chExt cx="0" cy="0"/>
        </a:xfrm>
      </p:grpSpPr>
      <p:sp>
        <p:nvSpPr>
          <p:cNvPr id="35" name="Google Shape;35;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6" name="Google Shape;36;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7" name="Google Shape;37;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
        <p:nvSpPr>
          <p:cNvPr id="38" name="Google Shape;38;p4"/>
          <p:cNvSpPr txBox="1">
            <a:spLocks noGrp="1"/>
          </p:cNvSpPr>
          <p:nvPr>
            <p:ph type="body" idx="1"/>
          </p:nvPr>
        </p:nvSpPr>
        <p:spPr>
          <a:xfrm>
            <a:off x="971977" y="1324628"/>
            <a:ext cx="10972800" cy="4525963"/>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90000"/>
              </a:lnSpc>
              <a:spcBef>
                <a:spcPts val="500"/>
              </a:spcBef>
              <a:spcAft>
                <a:spcPts val="0"/>
              </a:spcAft>
              <a:buClr>
                <a:schemeClr val="dk1"/>
              </a:buClr>
              <a:buSzPts val="2400"/>
              <a:buFont typeface="Courier New"/>
              <a:buChar char="o"/>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90000"/>
              </a:lnSpc>
              <a:spcBef>
                <a:spcPts val="500"/>
              </a:spcBef>
              <a:spcAft>
                <a:spcPts val="0"/>
              </a:spcAft>
              <a:buClr>
                <a:schemeClr val="dk1"/>
              </a:buClr>
              <a:buSzPts val="2000"/>
              <a:buFont typeface="Calibri"/>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4pPr>
            <a:lvl5pPr marL="2286000" marR="0" lvl="4"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39"/>
        <p:cNvGrpSpPr/>
        <p:nvPr/>
      </p:nvGrpSpPr>
      <p:grpSpPr>
        <a:xfrm>
          <a:off x="0" y="0"/>
          <a:ext cx="0" cy="0"/>
          <a:chOff x="0" y="0"/>
          <a:chExt cx="0" cy="0"/>
        </a:xfrm>
      </p:grpSpPr>
      <p:sp>
        <p:nvSpPr>
          <p:cNvPr id="40" name="Google Shape;40;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1" name="Google Shape;41;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2" name="Google Shape;42;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
        <p:nvSpPr>
          <p:cNvPr id="43" name="Google Shape;43;p5"/>
          <p:cNvSpPr txBox="1">
            <a:spLocks noGrp="1"/>
          </p:cNvSpPr>
          <p:nvPr>
            <p:ph type="title"/>
          </p:nvPr>
        </p:nvSpPr>
        <p:spPr>
          <a:xfrm>
            <a:off x="1089764" y="214816"/>
            <a:ext cx="9870510" cy="874951"/>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rgbClr val="930B0B"/>
              </a:buClr>
              <a:buSzPts val="3600"/>
              <a:buFont typeface="Times New Roman"/>
              <a:buNone/>
              <a:defRPr sz="3600" b="0" i="0" u="none" strike="noStrike" cap="none">
                <a:solidFill>
                  <a:srgbClr val="930B0B"/>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4" name="Google Shape;44;p5"/>
          <p:cNvSpPr txBox="1">
            <a:spLocks noGrp="1"/>
          </p:cNvSpPr>
          <p:nvPr>
            <p:ph type="body" idx="1"/>
          </p:nvPr>
        </p:nvSpPr>
        <p:spPr>
          <a:xfrm>
            <a:off x="933338" y="1324628"/>
            <a:ext cx="10972800" cy="4525963"/>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90000"/>
              </a:lnSpc>
              <a:spcBef>
                <a:spcPts val="500"/>
              </a:spcBef>
              <a:spcAft>
                <a:spcPts val="0"/>
              </a:spcAft>
              <a:buClr>
                <a:schemeClr val="dk1"/>
              </a:buClr>
              <a:buSzPts val="2400"/>
              <a:buFont typeface="Courier New"/>
              <a:buChar char="o"/>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90000"/>
              </a:lnSpc>
              <a:spcBef>
                <a:spcPts val="500"/>
              </a:spcBef>
              <a:spcAft>
                <a:spcPts val="0"/>
              </a:spcAft>
              <a:buClr>
                <a:schemeClr val="dk1"/>
              </a:buClr>
              <a:buSzPts val="2000"/>
              <a:buFont typeface="Calibri"/>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4pPr>
            <a:lvl5pPr marL="2286000" marR="0" lvl="4"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_Custom Layout">
  <p:cSld name="2_Custom Layout">
    <p:spTree>
      <p:nvGrpSpPr>
        <p:cNvPr id="1" name="Shape 45"/>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1089764" y="214816"/>
            <a:ext cx="9870510" cy="874951"/>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rgbClr val="930B0B"/>
              </a:buClr>
              <a:buSzPts val="3600"/>
              <a:buFont typeface="Times New Roman"/>
              <a:buNone/>
              <a:defRPr sz="3600" b="0" i="0" u="none" strike="noStrike" cap="none">
                <a:solidFill>
                  <a:srgbClr val="930B0B"/>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8" name="Google Shape;48;p7"/>
          <p:cNvSpPr txBox="1">
            <a:spLocks noGrp="1"/>
          </p:cNvSpPr>
          <p:nvPr>
            <p:ph type="body" idx="1"/>
          </p:nvPr>
        </p:nvSpPr>
        <p:spPr>
          <a:xfrm>
            <a:off x="873826" y="1189973"/>
            <a:ext cx="10997852" cy="489930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Times New Roman"/>
                <a:ea typeface="Times New Roman"/>
                <a:cs typeface="Times New Roman"/>
                <a:sym typeface="Times New Roman"/>
              </a:defRPr>
            </a:lvl1pPr>
            <a:lvl2pPr marL="914400" marR="0" lvl="1" indent="-335280" algn="l" rtl="0">
              <a:lnSpc>
                <a:spcPct val="90000"/>
              </a:lnSpc>
              <a:spcBef>
                <a:spcPts val="500"/>
              </a:spcBef>
              <a:spcAft>
                <a:spcPts val="0"/>
              </a:spcAft>
              <a:buClr>
                <a:srgbClr val="C55A11"/>
              </a:buClr>
              <a:buSzPts val="1680"/>
              <a:buFont typeface="Courier New"/>
              <a:buChar char="o"/>
              <a:defRPr sz="2400" b="0" i="0" u="none" strike="noStrike" cap="none">
                <a:solidFill>
                  <a:schemeClr val="dk1"/>
                </a:solidFill>
                <a:latin typeface="Times New Roman"/>
                <a:ea typeface="Times New Roman"/>
                <a:cs typeface="Times New Roman"/>
                <a:sym typeface="Times New Roman"/>
              </a:defRPr>
            </a:lvl2pPr>
            <a:lvl3pPr marL="1371600" marR="0" lvl="2" indent="-317500" algn="l" rtl="0">
              <a:lnSpc>
                <a:spcPct val="90000"/>
              </a:lnSpc>
              <a:spcBef>
                <a:spcPts val="500"/>
              </a:spcBef>
              <a:spcAft>
                <a:spcPts val="0"/>
              </a:spcAft>
              <a:buClr>
                <a:srgbClr val="8D4427"/>
              </a:buClr>
              <a:buSzPts val="14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1" name="Google Shape;51;p8"/>
          <p:cNvSpPr txBox="1">
            <a:spLocks noGrp="1"/>
          </p:cNvSpPr>
          <p:nvPr>
            <p:ph type="body" idx="1"/>
          </p:nvPr>
        </p:nvSpPr>
        <p:spPr>
          <a:xfrm>
            <a:off x="908766" y="1606006"/>
            <a:ext cx="5157787"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52" name="Google Shape;52;p8"/>
          <p:cNvSpPr txBox="1">
            <a:spLocks noGrp="1"/>
          </p:cNvSpPr>
          <p:nvPr>
            <p:ph type="body" idx="2"/>
          </p:nvPr>
        </p:nvSpPr>
        <p:spPr>
          <a:xfrm>
            <a:off x="1071605" y="2505075"/>
            <a:ext cx="5157787"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3" name="Google Shape;53;p8"/>
          <p:cNvSpPr txBox="1">
            <a:spLocks noGrp="1"/>
          </p:cNvSpPr>
          <p:nvPr>
            <p:ph type="body" idx="3"/>
          </p:nvPr>
        </p:nvSpPr>
        <p:spPr>
          <a:xfrm>
            <a:off x="6404017" y="1681163"/>
            <a:ext cx="5183188"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54" name="Google Shape;54;p8"/>
          <p:cNvSpPr txBox="1">
            <a:spLocks noGrp="1"/>
          </p:cNvSpPr>
          <p:nvPr>
            <p:ph type="body" idx="4"/>
          </p:nvPr>
        </p:nvSpPr>
        <p:spPr>
          <a:xfrm>
            <a:off x="6404017" y="2505075"/>
            <a:ext cx="5183188"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2" name="Google Shape;62;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3"/>
        <p:cNvGrpSpPr/>
        <p:nvPr/>
      </p:nvGrpSpPr>
      <p:grpSpPr>
        <a:xfrm>
          <a:off x="0" y="0"/>
          <a:ext cx="0" cy="0"/>
          <a:chOff x="0" y="0"/>
          <a:chExt cx="0" cy="0"/>
        </a:xfrm>
      </p:grpSpPr>
      <p:sp>
        <p:nvSpPr>
          <p:cNvPr id="64" name="Google Shape;64;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5" name="Google Shape;65;p1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6" name="Google Shape;66;p1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7" name="Google Shape;67;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9" name="Google Shape;69;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0"/>
        <p:cNvGrpSpPr/>
        <p:nvPr/>
      </p:nvGrpSpPr>
      <p:grpSpPr>
        <a:xfrm>
          <a:off x="0" y="0"/>
          <a:ext cx="0" cy="0"/>
          <a:chOff x="0" y="0"/>
          <a:chExt cx="0" cy="0"/>
        </a:xfrm>
      </p:grpSpPr>
      <p:sp>
        <p:nvSpPr>
          <p:cNvPr id="71" name="Google Shape;71;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2" name="Google Shape;72;p11"/>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73" name="Google Shape;73;p1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74" name="Google Shape;74;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5" name="Google Shape;75;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9" name="Google Shape;79;p1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0" name="Google Shape;80;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1" name="Google Shape;81;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3"/>
        <p:cNvGrpSpPr/>
        <p:nvPr/>
      </p:nvGrpSpPr>
      <p:grpSpPr>
        <a:xfrm>
          <a:off x="0" y="0"/>
          <a:ext cx="0" cy="0"/>
          <a:chOff x="0" y="0"/>
          <a:chExt cx="0" cy="0"/>
        </a:xfrm>
      </p:grpSpPr>
      <p:sp>
        <p:nvSpPr>
          <p:cNvPr id="84" name="Google Shape;84;p1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5" name="Google Shape;85;p1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6" name="Google Shape;86;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7" name="Google Shape;87;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8" name="Google Shape;88;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89"/>
        <p:cNvGrpSpPr/>
        <p:nvPr/>
      </p:nvGrpSpPr>
      <p:grpSpPr>
        <a:xfrm>
          <a:off x="0" y="0"/>
          <a:ext cx="0" cy="0"/>
          <a:chOff x="0" y="0"/>
          <a:chExt cx="0" cy="0"/>
        </a:xfrm>
      </p:grpSpPr>
      <p:sp>
        <p:nvSpPr>
          <p:cNvPr id="90" name="Google Shape;90;p1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91"/>
        <p:cNvGrpSpPr/>
        <p:nvPr/>
      </p:nvGrpSpPr>
      <p:grpSpPr>
        <a:xfrm>
          <a:off x="0" y="0"/>
          <a:ext cx="0" cy="0"/>
          <a:chOff x="0" y="0"/>
          <a:chExt cx="0" cy="0"/>
        </a:xfrm>
      </p:grpSpPr>
      <p:sp>
        <p:nvSpPr>
          <p:cNvPr id="92" name="Google Shape;92;p1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Two Content" type="twoObj">
  <p:cSld name="TWO_OBJECTS">
    <p:spTree>
      <p:nvGrpSpPr>
        <p:cNvPr id="1" name="Shape 93"/>
        <p:cNvGrpSpPr/>
        <p:nvPr/>
      </p:nvGrpSpPr>
      <p:grpSpPr>
        <a:xfrm>
          <a:off x="0" y="0"/>
          <a:ext cx="0" cy="0"/>
          <a:chOff x="0" y="0"/>
          <a:chExt cx="0" cy="0"/>
        </a:xfrm>
      </p:grpSpPr>
      <p:sp>
        <p:nvSpPr>
          <p:cNvPr id="94" name="Google Shape;94;p16"/>
          <p:cNvSpPr txBox="1">
            <a:spLocks noGrp="1"/>
          </p:cNvSpPr>
          <p:nvPr>
            <p:ph type="title"/>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5" name="Google Shape;95;p16"/>
          <p:cNvSpPr txBox="1">
            <a:spLocks noGrp="1"/>
          </p:cNvSpPr>
          <p:nvPr>
            <p:ph type="body" idx="1"/>
          </p:nvPr>
        </p:nvSpPr>
        <p:spPr>
          <a:xfrm>
            <a:off x="609600" y="1600201"/>
            <a:ext cx="5384800" cy="452596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6" name="Google Shape;96;p16"/>
          <p:cNvSpPr txBox="1">
            <a:spLocks noGrp="1"/>
          </p:cNvSpPr>
          <p:nvPr>
            <p:ph type="body" idx="2"/>
          </p:nvPr>
        </p:nvSpPr>
        <p:spPr>
          <a:xfrm>
            <a:off x="6197600" y="1600201"/>
            <a:ext cx="5384800" cy="452596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7" name="Google Shape;97;p16"/>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8" name="Google Shape;98;p16"/>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9" name="Google Shape;99;p16"/>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Title and Content" type="obj">
  <p:cSld name="OBJECT">
    <p:spTree>
      <p:nvGrpSpPr>
        <p:cNvPr id="1" name="Shape 100"/>
        <p:cNvGrpSpPr/>
        <p:nvPr/>
      </p:nvGrpSpPr>
      <p:grpSpPr>
        <a:xfrm>
          <a:off x="0" y="0"/>
          <a:ext cx="0" cy="0"/>
          <a:chOff x="0" y="0"/>
          <a:chExt cx="0" cy="0"/>
        </a:xfrm>
      </p:grpSpPr>
      <p:sp>
        <p:nvSpPr>
          <p:cNvPr id="101" name="Google Shape;101;p17"/>
          <p:cNvSpPr txBox="1">
            <a:spLocks noGrp="1"/>
          </p:cNvSpPr>
          <p:nvPr>
            <p:ph type="title"/>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2" name="Google Shape;102;p17"/>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3" name="Google Shape;103;p17"/>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4" name="Google Shape;104;p17"/>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image" Target="../media/image4.jp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p:nvPr/>
        </p:nvSpPr>
        <p:spPr>
          <a:xfrm>
            <a:off x="1531257" y="294320"/>
            <a:ext cx="9129486" cy="73796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4400"/>
              <a:buFont typeface="Calibri"/>
              <a:buNone/>
            </a:pPr>
            <a:endParaRPr sz="4400" b="0" i="0" u="none" strike="noStrike" cap="none">
              <a:solidFill>
                <a:schemeClr val="dk1"/>
              </a:solidFill>
              <a:latin typeface="Calibri"/>
              <a:ea typeface="Calibri"/>
              <a:cs typeface="Calibri"/>
              <a:sym typeface="Calibri"/>
            </a:endParaRPr>
          </a:p>
        </p:txBody>
      </p:sp>
      <p:sp>
        <p:nvSpPr>
          <p:cNvPr id="11" name="Google Shape;11;p1"/>
          <p:cNvSpPr txBox="1"/>
          <p:nvPr/>
        </p:nvSpPr>
        <p:spPr>
          <a:xfrm>
            <a:off x="432520" y="6373653"/>
            <a:ext cx="1941286" cy="36512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i="0" u="none" strike="noStrike" cap="none">
                <a:solidFill>
                  <a:schemeClr val="lt1"/>
                </a:solidFill>
                <a:latin typeface="Times New Roman"/>
                <a:ea typeface="Times New Roman"/>
                <a:cs typeface="Times New Roman"/>
                <a:sym typeface="Times New Roman"/>
              </a:rPr>
              <a:t>3/1/2021</a:t>
            </a:r>
            <a:endParaRPr sz="1400" b="1" i="0" u="none" strike="noStrike" cap="none">
              <a:solidFill>
                <a:schemeClr val="lt1"/>
              </a:solidFill>
              <a:latin typeface="Times New Roman"/>
              <a:ea typeface="Times New Roman"/>
              <a:cs typeface="Times New Roman"/>
              <a:sym typeface="Times New Roman"/>
            </a:endParaRPr>
          </a:p>
        </p:txBody>
      </p:sp>
      <p:sp>
        <p:nvSpPr>
          <p:cNvPr id="12" name="Google Shape;12;p1"/>
          <p:cNvSpPr txBox="1"/>
          <p:nvPr/>
        </p:nvSpPr>
        <p:spPr>
          <a:xfrm>
            <a:off x="10986931" y="6347050"/>
            <a:ext cx="801914" cy="36512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fld id="{00000000-1234-1234-1234-123412341234}" type="slidenum">
              <a:rPr lang="en-US" sz="1400" b="1" i="0" u="none" strike="noStrike" cap="none">
                <a:solidFill>
                  <a:schemeClr val="lt1"/>
                </a:solidFill>
                <a:latin typeface="Times New Roman"/>
                <a:ea typeface="Times New Roman"/>
                <a:cs typeface="Times New Roman"/>
                <a:sym typeface="Times New Roman"/>
              </a:rPr>
              <a:t>‹#›</a:t>
            </a:fld>
            <a:endParaRPr sz="1400" b="1" i="0" u="none" strike="noStrike" cap="none">
              <a:solidFill>
                <a:schemeClr val="lt1"/>
              </a:solidFill>
              <a:latin typeface="Times New Roman"/>
              <a:ea typeface="Times New Roman"/>
              <a:cs typeface="Times New Roman"/>
              <a:sym typeface="Times New Roman"/>
            </a:endParaRPr>
          </a:p>
        </p:txBody>
      </p:sp>
      <p:cxnSp>
        <p:nvCxnSpPr>
          <p:cNvPr id="13" name="Google Shape;13;p1"/>
          <p:cNvCxnSpPr/>
          <p:nvPr/>
        </p:nvCxnSpPr>
        <p:spPr>
          <a:xfrm>
            <a:off x="231906" y="524442"/>
            <a:ext cx="20026" cy="5873873"/>
          </a:xfrm>
          <a:prstGeom prst="straightConnector1">
            <a:avLst/>
          </a:prstGeom>
          <a:noFill/>
          <a:ln w="9525" cap="flat" cmpd="sng">
            <a:solidFill>
              <a:schemeClr val="accent2"/>
            </a:solidFill>
            <a:prstDash val="solid"/>
            <a:miter lim="800000"/>
            <a:headEnd type="none" w="sm" len="sm"/>
            <a:tailEnd type="none" w="sm" len="sm"/>
          </a:ln>
        </p:spPr>
      </p:cxnSp>
      <p:cxnSp>
        <p:nvCxnSpPr>
          <p:cNvPr id="14" name="Google Shape;14;p1"/>
          <p:cNvCxnSpPr/>
          <p:nvPr/>
        </p:nvCxnSpPr>
        <p:spPr>
          <a:xfrm>
            <a:off x="11945042" y="135448"/>
            <a:ext cx="19165" cy="6100958"/>
          </a:xfrm>
          <a:prstGeom prst="straightConnector1">
            <a:avLst/>
          </a:prstGeom>
          <a:noFill/>
          <a:ln w="9525" cap="flat" cmpd="sng">
            <a:solidFill>
              <a:schemeClr val="accent2"/>
            </a:solidFill>
            <a:prstDash val="solid"/>
            <a:miter lim="800000"/>
            <a:headEnd type="none" w="sm" len="sm"/>
            <a:tailEnd type="none" w="sm" len="sm"/>
          </a:ln>
        </p:spPr>
      </p:cxnSp>
      <p:cxnSp>
        <p:nvCxnSpPr>
          <p:cNvPr id="15" name="Google Shape;15;p1"/>
          <p:cNvCxnSpPr/>
          <p:nvPr/>
        </p:nvCxnSpPr>
        <p:spPr>
          <a:xfrm>
            <a:off x="572366" y="135448"/>
            <a:ext cx="11382258" cy="0"/>
          </a:xfrm>
          <a:prstGeom prst="straightConnector1">
            <a:avLst/>
          </a:prstGeom>
          <a:noFill/>
          <a:ln w="9525" cap="flat" cmpd="sng">
            <a:solidFill>
              <a:schemeClr val="accent2"/>
            </a:solidFill>
            <a:prstDash val="solid"/>
            <a:miter lim="800000"/>
            <a:headEnd type="none" w="sm" len="sm"/>
            <a:tailEnd type="none" w="sm" len="sm"/>
          </a:ln>
        </p:spPr>
      </p:cxnSp>
      <p:cxnSp>
        <p:nvCxnSpPr>
          <p:cNvPr id="16" name="Google Shape;16;p1"/>
          <p:cNvCxnSpPr/>
          <p:nvPr/>
        </p:nvCxnSpPr>
        <p:spPr>
          <a:xfrm>
            <a:off x="251932" y="6398315"/>
            <a:ext cx="320400" cy="293100"/>
          </a:xfrm>
          <a:prstGeom prst="curvedConnector3">
            <a:avLst>
              <a:gd name="adj1" fmla="val 50000"/>
            </a:avLst>
          </a:prstGeom>
          <a:noFill/>
          <a:ln w="9525" cap="flat" cmpd="sng">
            <a:solidFill>
              <a:schemeClr val="accent2"/>
            </a:solidFill>
            <a:prstDash val="solid"/>
            <a:miter lim="800000"/>
            <a:headEnd type="none" w="sm" len="sm"/>
            <a:tailEnd type="none" w="sm" len="sm"/>
          </a:ln>
        </p:spPr>
      </p:cxnSp>
      <p:cxnSp>
        <p:nvCxnSpPr>
          <p:cNvPr id="17" name="Google Shape;17;p1"/>
          <p:cNvCxnSpPr/>
          <p:nvPr/>
        </p:nvCxnSpPr>
        <p:spPr>
          <a:xfrm rot="5400000">
            <a:off x="11558309" y="6285306"/>
            <a:ext cx="454800" cy="357000"/>
          </a:xfrm>
          <a:prstGeom prst="curvedConnector3">
            <a:avLst>
              <a:gd name="adj1" fmla="val 50000"/>
            </a:avLst>
          </a:prstGeom>
          <a:noFill/>
          <a:ln w="9525" cap="flat" cmpd="sng">
            <a:solidFill>
              <a:schemeClr val="accent2"/>
            </a:solidFill>
            <a:prstDash val="solid"/>
            <a:miter lim="800000"/>
            <a:headEnd type="none" w="sm" len="sm"/>
            <a:tailEnd type="none" w="sm" len="sm"/>
          </a:ln>
        </p:spPr>
      </p:cxnSp>
      <p:pic>
        <p:nvPicPr>
          <p:cNvPr id="18" name="Google Shape;18;p1"/>
          <p:cNvPicPr preferRelativeResize="0"/>
          <p:nvPr/>
        </p:nvPicPr>
        <p:blipFill rotWithShape="1">
          <a:blip r:embed="rId18">
            <a:alphaModFix/>
          </a:blip>
          <a:srcRect/>
          <a:stretch/>
        </p:blipFill>
        <p:spPr>
          <a:xfrm>
            <a:off x="605" y="135448"/>
            <a:ext cx="566958" cy="6722552"/>
          </a:xfrm>
          <a:prstGeom prst="rect">
            <a:avLst/>
          </a:prstGeom>
          <a:noFill/>
          <a:ln>
            <a:noFill/>
          </a:ln>
        </p:spPr>
      </p:pic>
      <p:pic>
        <p:nvPicPr>
          <p:cNvPr id="19" name="Google Shape;19;p1"/>
          <p:cNvPicPr preferRelativeResize="0"/>
          <p:nvPr/>
        </p:nvPicPr>
        <p:blipFill rotWithShape="1">
          <a:blip r:embed="rId19">
            <a:alphaModFix/>
          </a:blip>
          <a:srcRect/>
          <a:stretch/>
        </p:blipFill>
        <p:spPr>
          <a:xfrm>
            <a:off x="572783" y="135448"/>
            <a:ext cx="204457" cy="5305232"/>
          </a:xfrm>
          <a:prstGeom prst="rect">
            <a:avLst/>
          </a:prstGeom>
          <a:noFill/>
          <a:ln>
            <a:noFill/>
          </a:ln>
        </p:spPr>
      </p:pic>
      <p:pic>
        <p:nvPicPr>
          <p:cNvPr id="20" name="Google Shape;20;p1" descr="A close up of a sign&#10;&#10;Description automatically generated"/>
          <p:cNvPicPr preferRelativeResize="0"/>
          <p:nvPr/>
        </p:nvPicPr>
        <p:blipFill rotWithShape="1">
          <a:blip r:embed="rId20">
            <a:alphaModFix/>
          </a:blip>
          <a:srcRect/>
          <a:stretch/>
        </p:blipFill>
        <p:spPr>
          <a:xfrm>
            <a:off x="11095526" y="6043824"/>
            <a:ext cx="868683" cy="647487"/>
          </a:xfrm>
          <a:prstGeom prst="rect">
            <a:avLst/>
          </a:prstGeom>
          <a:noFill/>
          <a:ln>
            <a:noFill/>
          </a:ln>
        </p:spPr>
      </p:pic>
      <p:pic>
        <p:nvPicPr>
          <p:cNvPr id="21" name="Google Shape;21;p1" descr="A picture containing drawing&#10;&#10;Description automatically generated"/>
          <p:cNvPicPr preferRelativeResize="0"/>
          <p:nvPr/>
        </p:nvPicPr>
        <p:blipFill rotWithShape="1">
          <a:blip r:embed="rId21">
            <a:alphaModFix/>
          </a:blip>
          <a:srcRect/>
          <a:stretch/>
        </p:blipFill>
        <p:spPr>
          <a:xfrm>
            <a:off x="605" y="6214968"/>
            <a:ext cx="2655568" cy="663892"/>
          </a:xfrm>
          <a:prstGeom prst="rect">
            <a:avLst/>
          </a:prstGeom>
          <a:noFill/>
          <a:ln>
            <a:noFill/>
          </a:ln>
        </p:spPr>
      </p:pic>
      <p:pic>
        <p:nvPicPr>
          <p:cNvPr id="22" name="Google Shape;22;p1"/>
          <p:cNvPicPr preferRelativeResize="0"/>
          <p:nvPr/>
        </p:nvPicPr>
        <p:blipFill rotWithShape="1">
          <a:blip r:embed="rId18">
            <a:alphaModFix/>
          </a:blip>
          <a:srcRect/>
          <a:stretch/>
        </p:blipFill>
        <p:spPr>
          <a:xfrm rot="5400000">
            <a:off x="6714494" y="2503271"/>
            <a:ext cx="385984" cy="8376080"/>
          </a:xfrm>
          <a:prstGeom prst="rect">
            <a:avLst/>
          </a:prstGeom>
          <a:noFill/>
          <a:ln>
            <a:noFill/>
          </a:ln>
        </p:spPr>
      </p:pic>
      <p:pic>
        <p:nvPicPr>
          <p:cNvPr id="23" name="Google Shape;23;p1"/>
          <p:cNvPicPr preferRelativeResize="0"/>
          <p:nvPr/>
        </p:nvPicPr>
        <p:blipFill rotWithShape="1">
          <a:blip r:embed="rId19">
            <a:alphaModFix/>
          </a:blip>
          <a:srcRect/>
          <a:stretch/>
        </p:blipFill>
        <p:spPr>
          <a:xfrm rot="5400000">
            <a:off x="6820534" y="2236938"/>
            <a:ext cx="173904" cy="837607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kaggle.com/kazanova/sentiment140" TargetMode="Externa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sakshidgoel/Bilingual-Sentiment-Analysis/blob/master/Screenshots/Logistic-Regression.png" TargetMode="External"/><Relationship Id="rId2" Type="http://schemas.openxmlformats.org/officeDocument/2006/relationships/image" Target="../media/image9.png"/><Relationship Id="rId1" Type="http://schemas.openxmlformats.org/officeDocument/2006/relationships/slideLayout" Target="../slideLayouts/slideLayout1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8" Type="http://schemas.openxmlformats.org/officeDocument/2006/relationships/hyperlink" Target="https://github.com/sakshidgoel/Bilingual-Sentiment-Analysis/blob/master/Screenshots/Hybrid-Model.png" TargetMode="External"/><Relationship Id="rId3" Type="http://schemas.openxmlformats.org/officeDocument/2006/relationships/image" Target="../media/image13.png"/><Relationship Id="rId7" Type="http://schemas.openxmlformats.org/officeDocument/2006/relationships/image" Target="../media/image15.png"/><Relationship Id="rId2" Type="http://schemas.openxmlformats.org/officeDocument/2006/relationships/hyperlink" Target="https://github.com/sakshidgoel/Bilingual-Sentiment-Analysis/blob/master/Screenshots/Stochastic-Gradient-Descent.png" TargetMode="External"/><Relationship Id="rId1" Type="http://schemas.openxmlformats.org/officeDocument/2006/relationships/slideLayout" Target="../slideLayouts/slideLayout16.xml"/><Relationship Id="rId6" Type="http://schemas.openxmlformats.org/officeDocument/2006/relationships/hyperlink" Target="https://github.com/sakshidgoel/Bilingual-Sentiment-Analysis/blob/master/Screenshots/Maximum-Entropy.png" TargetMode="External"/><Relationship Id="rId5" Type="http://schemas.openxmlformats.org/officeDocument/2006/relationships/image" Target="../media/image14.png"/><Relationship Id="rId4" Type="http://schemas.openxmlformats.org/officeDocument/2006/relationships/hyperlink" Target="https://github.com/sakshidgoel/Bilingual-Sentiment-Analysis/blob/master/Screenshots/Support-Vector-Machine.png" TargetMode="External"/><Relationship Id="rId9"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github.com/sakshidgoel/Bilingual-Sentiment-Analysis/blob/master/Screenshots/confusion_matrix_before_normalization.png" TargetMode="Externa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github.com/sakshidgoel/Bilingual-Sentiment-Analysis/blob/master/Screenshots/confusion_matrix_after_normalization.png" TargetMode="Externa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8"/>
          <p:cNvSpPr txBox="1"/>
          <p:nvPr/>
        </p:nvSpPr>
        <p:spPr>
          <a:xfrm>
            <a:off x="1076226" y="2947919"/>
            <a:ext cx="10039546" cy="2215961"/>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2200" dirty="0">
                <a:latin typeface="Times New Roman"/>
                <a:ea typeface="Times New Roman"/>
                <a:cs typeface="Times New Roman"/>
                <a:sym typeface="Times New Roman"/>
              </a:rPr>
              <a:t>Sarthak </a:t>
            </a:r>
            <a:r>
              <a:rPr lang="en-US" sz="2200" dirty="0" err="1">
                <a:latin typeface="Times New Roman"/>
                <a:ea typeface="Times New Roman"/>
                <a:cs typeface="Times New Roman"/>
                <a:sym typeface="Times New Roman"/>
              </a:rPr>
              <a:t>Pokale</a:t>
            </a:r>
            <a:r>
              <a:rPr lang="en-US" sz="2200" dirty="0">
                <a:latin typeface="Times New Roman"/>
                <a:ea typeface="Times New Roman"/>
                <a:cs typeface="Times New Roman"/>
                <a:sym typeface="Times New Roman"/>
              </a:rPr>
              <a:t> -16010122146</a:t>
            </a:r>
          </a:p>
          <a:p>
            <a:pPr marL="0" lvl="0" indent="0" algn="ctr" rtl="0">
              <a:spcBef>
                <a:spcPts val="0"/>
              </a:spcBef>
              <a:spcAft>
                <a:spcPts val="0"/>
              </a:spcAft>
              <a:buNone/>
            </a:pPr>
            <a:r>
              <a:rPr lang="en-US" sz="2200" dirty="0">
                <a:latin typeface="Times New Roman"/>
                <a:ea typeface="Times New Roman"/>
                <a:cs typeface="Times New Roman"/>
                <a:sym typeface="Times New Roman"/>
              </a:rPr>
              <a:t>Khushi Poojari -16010122147</a:t>
            </a:r>
          </a:p>
          <a:p>
            <a:pPr marL="0" lvl="0" indent="0" algn="ctr" rtl="0">
              <a:spcBef>
                <a:spcPts val="0"/>
              </a:spcBef>
              <a:spcAft>
                <a:spcPts val="0"/>
              </a:spcAft>
              <a:buNone/>
            </a:pPr>
            <a:r>
              <a:rPr lang="en-US" sz="2200" dirty="0">
                <a:latin typeface="Times New Roman"/>
                <a:ea typeface="Times New Roman"/>
                <a:cs typeface="Times New Roman"/>
                <a:sym typeface="Times New Roman"/>
              </a:rPr>
              <a:t>Hyder </a:t>
            </a:r>
            <a:r>
              <a:rPr lang="en-US" sz="2200" dirty="0" err="1">
                <a:latin typeface="Times New Roman"/>
                <a:ea typeface="Times New Roman"/>
                <a:cs typeface="Times New Roman"/>
                <a:sym typeface="Times New Roman"/>
              </a:rPr>
              <a:t>Presswala</a:t>
            </a:r>
            <a:r>
              <a:rPr lang="en-US" sz="2200" dirty="0">
                <a:latin typeface="Times New Roman"/>
                <a:ea typeface="Times New Roman"/>
                <a:cs typeface="Times New Roman"/>
                <a:sym typeface="Times New Roman"/>
              </a:rPr>
              <a:t> - 16010122151</a:t>
            </a:r>
          </a:p>
          <a:p>
            <a:pPr marL="0" lvl="0" indent="0" algn="ctr" rtl="0">
              <a:spcBef>
                <a:spcPts val="0"/>
              </a:spcBef>
              <a:spcAft>
                <a:spcPts val="0"/>
              </a:spcAft>
              <a:buNone/>
            </a:pPr>
            <a:r>
              <a:rPr lang="en-US" sz="2200" dirty="0">
                <a:latin typeface="Times New Roman"/>
                <a:ea typeface="Times New Roman"/>
                <a:cs typeface="Times New Roman"/>
                <a:sym typeface="Times New Roman"/>
              </a:rPr>
              <a:t>Vedant Rathi-16010122154</a:t>
            </a:r>
            <a:endParaRPr sz="2200" dirty="0">
              <a:latin typeface="Times New Roman"/>
              <a:ea typeface="Times New Roman"/>
              <a:cs typeface="Times New Roman"/>
              <a:sym typeface="Times New Roman"/>
            </a:endParaRPr>
          </a:p>
          <a:p>
            <a:pPr marL="0" lvl="0" indent="0" algn="ctr" rtl="0">
              <a:spcBef>
                <a:spcPts val="0"/>
              </a:spcBef>
              <a:spcAft>
                <a:spcPts val="0"/>
              </a:spcAft>
              <a:buNone/>
            </a:pPr>
            <a:endParaRPr sz="2200" dirty="0">
              <a:latin typeface="Times New Roman"/>
              <a:ea typeface="Times New Roman"/>
              <a:cs typeface="Times New Roman"/>
              <a:sym typeface="Times New Roman"/>
            </a:endParaRPr>
          </a:p>
          <a:p>
            <a:pPr algn="ctr"/>
            <a:r>
              <a:rPr lang="en-US" sz="2200" dirty="0">
                <a:latin typeface="Times New Roman"/>
                <a:ea typeface="Times New Roman"/>
                <a:cs typeface="Times New Roman"/>
                <a:sym typeface="Times New Roman"/>
              </a:rPr>
              <a:t>Faculty Advisor - Prof Veena Badgujar</a:t>
            </a:r>
            <a:endParaRPr lang="en-IN" b="1" dirty="0"/>
          </a:p>
        </p:txBody>
      </p:sp>
      <p:sp>
        <p:nvSpPr>
          <p:cNvPr id="110" name="Google Shape;110;p18"/>
          <p:cNvSpPr txBox="1"/>
          <p:nvPr/>
        </p:nvSpPr>
        <p:spPr>
          <a:xfrm>
            <a:off x="2649555" y="835131"/>
            <a:ext cx="6685499" cy="1723518"/>
          </a:xfrm>
          <a:prstGeom prst="rect">
            <a:avLst/>
          </a:prstGeom>
          <a:noFill/>
          <a:ln>
            <a:noFill/>
          </a:ln>
        </p:spPr>
        <p:txBody>
          <a:bodyPr spcFirstLastPara="1" wrap="square" lIns="91425" tIns="91425" rIns="91425" bIns="91425" anchor="t" anchorCtr="0">
            <a:spAutoFit/>
          </a:bodyPr>
          <a:lstStyle/>
          <a:p>
            <a:pPr algn="ctr"/>
            <a:r>
              <a:rPr lang="en-IN" sz="5000" b="1" u="sng" dirty="0"/>
              <a:t>Hinglish Sentiment Analysis</a:t>
            </a:r>
          </a:p>
        </p:txBody>
      </p:sp>
      <p:sp>
        <p:nvSpPr>
          <p:cNvPr id="111" name="Google Shape;111;p18"/>
          <p:cNvSpPr txBox="1"/>
          <p:nvPr/>
        </p:nvSpPr>
        <p:spPr>
          <a:xfrm>
            <a:off x="970071" y="5553150"/>
            <a:ext cx="10478100" cy="831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2100" dirty="0">
                <a:latin typeface="Times New Roman"/>
                <a:ea typeface="Times New Roman"/>
                <a:cs typeface="Times New Roman"/>
                <a:sym typeface="Times New Roman"/>
              </a:rPr>
              <a:t>K.J Somaiya School of Engineering</a:t>
            </a:r>
            <a:endParaRPr sz="2100" dirty="0">
              <a:latin typeface="Times New Roman"/>
              <a:ea typeface="Times New Roman"/>
              <a:cs typeface="Times New Roman"/>
              <a:sym typeface="Times New Roman"/>
            </a:endParaRPr>
          </a:p>
          <a:p>
            <a:pPr marL="0" lvl="0" indent="0" algn="ctr" rtl="0">
              <a:spcBef>
                <a:spcPts val="0"/>
              </a:spcBef>
              <a:spcAft>
                <a:spcPts val="0"/>
              </a:spcAft>
              <a:buNone/>
            </a:pPr>
            <a:r>
              <a:rPr lang="en-US" sz="2100" dirty="0">
                <a:latin typeface="Times New Roman"/>
                <a:ea typeface="Times New Roman"/>
                <a:cs typeface="Times New Roman"/>
                <a:sym typeface="Times New Roman"/>
              </a:rPr>
              <a:t>Department of Computer Engineering</a:t>
            </a:r>
            <a:endParaRPr sz="2100" dirty="0">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40D57BB-4683-8849-686E-3A260EDDA1EC}"/>
              </a:ext>
            </a:extLst>
          </p:cNvPr>
          <p:cNvSpPr txBox="1"/>
          <p:nvPr/>
        </p:nvSpPr>
        <p:spPr>
          <a:xfrm>
            <a:off x="911645" y="237211"/>
            <a:ext cx="10871859" cy="4939814"/>
          </a:xfrm>
          <a:prstGeom prst="rect">
            <a:avLst/>
          </a:prstGeom>
          <a:noFill/>
        </p:spPr>
        <p:txBody>
          <a:bodyPr wrap="square">
            <a:spAutoFit/>
          </a:bodyPr>
          <a:lstStyle/>
          <a:p>
            <a:r>
              <a:rPr lang="en-IN" sz="3600" b="1" u="sng" dirty="0"/>
              <a:t>Introduction</a:t>
            </a:r>
          </a:p>
          <a:p>
            <a:endParaRPr lang="en-US" sz="2000" dirty="0"/>
          </a:p>
          <a:p>
            <a:r>
              <a:rPr lang="en-IN" sz="2500" b="1" dirty="0"/>
              <a:t>Hinglish</a:t>
            </a:r>
            <a:r>
              <a:rPr lang="en-IN" sz="2500" dirty="0"/>
              <a:t> refers to </a:t>
            </a:r>
            <a:r>
              <a:rPr lang="en-IN" sz="2500" b="1" dirty="0"/>
              <a:t>code-mixed Hindi-English text </a:t>
            </a:r>
            <a:r>
              <a:rPr lang="en-IN" sz="2500" dirty="0"/>
              <a:t>(Hindi words written in Latin script mixed with English). It is extremely common on Indian social media, with studies finding ~86% of sampled tweets contain Hinglish content.</a:t>
            </a:r>
          </a:p>
          <a:p>
            <a:r>
              <a:rPr lang="en-IN" sz="2500" i="1" dirty="0"/>
              <a:t>Example:</a:t>
            </a:r>
            <a:r>
              <a:rPr lang="en-IN" sz="2500" dirty="0"/>
              <a:t> “</a:t>
            </a:r>
            <a:r>
              <a:rPr lang="en-IN" sz="2500" i="1" dirty="0"/>
              <a:t>ye movie bahut </a:t>
            </a:r>
            <a:r>
              <a:rPr lang="en-IN" sz="2500" i="1" dirty="0" err="1"/>
              <a:t>acchi</a:t>
            </a:r>
            <a:r>
              <a:rPr lang="en-IN" sz="2500" i="1" dirty="0"/>
              <a:t> </a:t>
            </a:r>
            <a:r>
              <a:rPr lang="en-IN" sz="2500" i="1" dirty="0" err="1"/>
              <a:t>hai</a:t>
            </a:r>
            <a:r>
              <a:rPr lang="en-IN" sz="2500" dirty="0"/>
              <a:t>” (Hinglish sentence mixing Hindi and English).</a:t>
            </a:r>
          </a:p>
          <a:p>
            <a:r>
              <a:rPr lang="en-IN" sz="2500" b="1" dirty="0"/>
              <a:t>Importance:</a:t>
            </a:r>
            <a:r>
              <a:rPr lang="en-IN" sz="2500" dirty="0"/>
              <a:t> Hinglish posts dominate user-generated content in India and diaspora. Accurately </a:t>
            </a:r>
            <a:r>
              <a:rPr lang="en-IN" sz="2500" dirty="0" err="1"/>
              <a:t>analyzing</a:t>
            </a:r>
            <a:r>
              <a:rPr lang="en-IN" sz="2500" dirty="0"/>
              <a:t> their sentiment is </a:t>
            </a:r>
            <a:r>
              <a:rPr lang="en-IN" sz="2500" b="1" dirty="0"/>
              <a:t>crucial for opinion mining and business intelligence in this large market.</a:t>
            </a:r>
          </a:p>
          <a:p>
            <a:r>
              <a:rPr lang="en-IN" b="1" dirty="0"/>
              <a:t> </a:t>
            </a:r>
          </a:p>
          <a:p>
            <a:endParaRPr lang="en-IN" sz="2000" dirty="0"/>
          </a:p>
        </p:txBody>
      </p:sp>
    </p:spTree>
    <p:extLst>
      <p:ext uri="{BB962C8B-B14F-4D97-AF65-F5344CB8AC3E}">
        <p14:creationId xmlns:p14="http://schemas.microsoft.com/office/powerpoint/2010/main" val="354363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9"/>
          <p:cNvSpPr txBox="1"/>
          <p:nvPr/>
        </p:nvSpPr>
        <p:spPr>
          <a:xfrm>
            <a:off x="849294" y="909069"/>
            <a:ext cx="11037906" cy="5260200"/>
          </a:xfrm>
          <a:prstGeom prst="rect">
            <a:avLst/>
          </a:prstGeom>
          <a:noFill/>
          <a:ln>
            <a:noFill/>
          </a:ln>
        </p:spPr>
        <p:txBody>
          <a:bodyPr spcFirstLastPara="1" wrap="square" lIns="91425" tIns="45700" rIns="91425" bIns="45700" anchor="t" anchorCtr="0">
            <a:noAutofit/>
          </a:bodyPr>
          <a:lstStyle/>
          <a:p>
            <a:r>
              <a:rPr lang="en-IN" sz="2500" b="1" dirty="0"/>
              <a:t>Challenge</a:t>
            </a:r>
            <a:r>
              <a:rPr lang="en-IN" sz="2500" dirty="0"/>
              <a:t>: Standard sentiment models assume </a:t>
            </a:r>
            <a:r>
              <a:rPr lang="en-IN" sz="2500" b="1" dirty="0"/>
              <a:t>monolingual text</a:t>
            </a:r>
            <a:r>
              <a:rPr lang="en-IN" sz="2500" dirty="0"/>
              <a:t>. Hinglish violates this by mixing grammar, script and vocabulary, making ML difficult. Code-mixing leads to noisy spelling (e.g. “</a:t>
            </a:r>
            <a:r>
              <a:rPr lang="en-IN" sz="2500" i="1" dirty="0"/>
              <a:t>salaam </a:t>
            </a:r>
            <a:r>
              <a:rPr lang="en-IN" sz="2500" i="1" dirty="0" err="1"/>
              <a:t>alaikum</a:t>
            </a:r>
            <a:r>
              <a:rPr lang="en-IN" sz="2500" dirty="0"/>
              <a:t>” vs “</a:t>
            </a:r>
            <a:r>
              <a:rPr lang="en-IN" sz="2500" i="1" dirty="0"/>
              <a:t>salaam </a:t>
            </a:r>
            <a:r>
              <a:rPr lang="en-IN" sz="2500" i="1" dirty="0" err="1"/>
              <a:t>alaikum</a:t>
            </a:r>
            <a:r>
              <a:rPr lang="en-IN" sz="2500" dirty="0"/>
              <a:t>”) and ambiguous tokens.</a:t>
            </a:r>
          </a:p>
          <a:p>
            <a:endParaRPr lang="en-IN" sz="2500" dirty="0"/>
          </a:p>
          <a:p>
            <a:r>
              <a:rPr lang="en-IN" sz="2500" b="1" dirty="0"/>
              <a:t>Consequences</a:t>
            </a:r>
            <a:r>
              <a:rPr lang="en-IN" sz="2500" dirty="0"/>
              <a:t>: Off-the-shelf monolingual classifiers perform poorly on Hinglish, misinterpreting sentiment or failing to assign neutral/positive labels correctly. This hinders social media monitoring and opinion analysis in the Indian context.</a:t>
            </a:r>
          </a:p>
        </p:txBody>
      </p:sp>
      <p:sp>
        <p:nvSpPr>
          <p:cNvPr id="118" name="Google Shape;118;p19"/>
          <p:cNvSpPr txBox="1"/>
          <p:nvPr/>
        </p:nvSpPr>
        <p:spPr>
          <a:xfrm>
            <a:off x="596766" y="173790"/>
            <a:ext cx="4664730" cy="5799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1000"/>
              </a:spcBef>
              <a:spcAft>
                <a:spcPts val="0"/>
              </a:spcAft>
              <a:buNone/>
            </a:pPr>
            <a:r>
              <a:rPr lang="en-US" sz="3500" b="1" u="sng" dirty="0">
                <a:latin typeface="Arial" panose="020B0604020202020204" pitchFamily="34" charset="0"/>
                <a:ea typeface="Times New Roman"/>
                <a:cs typeface="Arial" panose="020B0604020202020204" pitchFamily="34" charset="0"/>
                <a:sym typeface="Times New Roman"/>
              </a:rPr>
              <a:t>Problem Statement</a:t>
            </a:r>
            <a:endParaRPr sz="3500" b="1" u="sng" dirty="0">
              <a:solidFill>
                <a:srgbClr val="000000"/>
              </a:solidFill>
              <a:latin typeface="Arial" panose="020B0604020202020204" pitchFamily="34" charset="0"/>
              <a:ea typeface="Times New Roman"/>
              <a:cs typeface="Arial" panose="020B0604020202020204" pitchFamily="34" charset="0"/>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0"/>
          <p:cNvSpPr txBox="1">
            <a:spLocks noGrp="1"/>
          </p:cNvSpPr>
          <p:nvPr>
            <p:ph type="body" idx="1"/>
          </p:nvPr>
        </p:nvSpPr>
        <p:spPr>
          <a:xfrm>
            <a:off x="789272" y="113709"/>
            <a:ext cx="11057437" cy="830671"/>
          </a:xfrm>
          <a:prstGeom prst="rect">
            <a:avLst/>
          </a:prstGeom>
        </p:spPr>
        <p:txBody>
          <a:bodyPr spcFirstLastPara="1" wrap="square" lIns="91425" tIns="45700" rIns="91425" bIns="45700" anchor="t" anchorCtr="0">
            <a:noAutofit/>
          </a:bodyPr>
          <a:lstStyle/>
          <a:p>
            <a:pPr marL="0" lvl="0" indent="0">
              <a:buNone/>
            </a:pPr>
            <a:r>
              <a:rPr lang="en-IN" sz="3600" b="1" u="sng" dirty="0">
                <a:latin typeface="+mj-lt"/>
              </a:rPr>
              <a:t>Motivation &amp; Contributions</a:t>
            </a:r>
          </a:p>
          <a:p>
            <a:r>
              <a:rPr lang="en-IN" sz="2200" dirty="0">
                <a:latin typeface="+mj-lt"/>
              </a:rPr>
              <a:t>Most existing sentiment analysis systems are designed for </a:t>
            </a:r>
            <a:r>
              <a:rPr lang="en-IN" sz="2200" b="1" dirty="0">
                <a:latin typeface="+mj-lt"/>
              </a:rPr>
              <a:t>English-only text</a:t>
            </a:r>
            <a:r>
              <a:rPr lang="en-IN" sz="2200" dirty="0">
                <a:latin typeface="+mj-lt"/>
              </a:rPr>
              <a:t> and perform poorly on </a:t>
            </a:r>
            <a:r>
              <a:rPr lang="en-IN" sz="2200" b="1" dirty="0">
                <a:latin typeface="+mj-lt"/>
              </a:rPr>
              <a:t>Hindi–English code-mixed (Hinglish) tweets</a:t>
            </a:r>
            <a:r>
              <a:rPr lang="en-IN" sz="2200" dirty="0">
                <a:latin typeface="+mj-lt"/>
              </a:rPr>
              <a:t>.</a:t>
            </a:r>
          </a:p>
          <a:p>
            <a:r>
              <a:rPr lang="en-IN" sz="2200" dirty="0">
                <a:latin typeface="+mj-lt"/>
              </a:rPr>
              <a:t>Hinglish sentiment analysis is challenging due to </a:t>
            </a:r>
            <a:r>
              <a:rPr lang="en-IN" sz="2200" b="1" dirty="0">
                <a:latin typeface="+mj-lt"/>
              </a:rPr>
              <a:t>lack of grammatical structure</a:t>
            </a:r>
            <a:r>
              <a:rPr lang="en-IN" sz="2200" dirty="0">
                <a:latin typeface="+mj-lt"/>
              </a:rPr>
              <a:t>, </a:t>
            </a:r>
            <a:r>
              <a:rPr lang="en-IN" sz="2200" b="1" dirty="0">
                <a:latin typeface="+mj-lt"/>
              </a:rPr>
              <a:t>spelling variations</a:t>
            </a:r>
            <a:r>
              <a:rPr lang="en-IN" sz="2200" dirty="0">
                <a:latin typeface="+mj-lt"/>
              </a:rPr>
              <a:t>, </a:t>
            </a:r>
            <a:r>
              <a:rPr lang="en-IN" sz="2200" b="1" dirty="0">
                <a:latin typeface="+mj-lt"/>
              </a:rPr>
              <a:t>language ambiguity</a:t>
            </a:r>
            <a:r>
              <a:rPr lang="en-IN" sz="2200" dirty="0">
                <a:latin typeface="+mj-lt"/>
              </a:rPr>
              <a:t>, and </a:t>
            </a:r>
            <a:r>
              <a:rPr lang="en-IN" sz="2200" b="1" dirty="0">
                <a:latin typeface="+mj-lt"/>
              </a:rPr>
              <a:t>negation handling issues</a:t>
            </a:r>
            <a:r>
              <a:rPr lang="en-IN" sz="2200" dirty="0">
                <a:latin typeface="+mj-lt"/>
              </a:rPr>
              <a:t>.</a:t>
            </a:r>
          </a:p>
          <a:p>
            <a:r>
              <a:rPr lang="en-IN" sz="2200" dirty="0">
                <a:latin typeface="+mj-lt"/>
              </a:rPr>
              <a:t>This project proposes a </a:t>
            </a:r>
            <a:r>
              <a:rPr lang="en-IN" sz="2200" b="1" dirty="0">
                <a:latin typeface="+mj-lt"/>
              </a:rPr>
              <a:t>bilingual sentiment analysis system</a:t>
            </a:r>
            <a:r>
              <a:rPr lang="en-IN" sz="2200" dirty="0">
                <a:latin typeface="+mj-lt"/>
              </a:rPr>
              <a:t> specifically for Hinglish Twitter data.</a:t>
            </a:r>
          </a:p>
          <a:p>
            <a:r>
              <a:rPr lang="en-IN" sz="2200" dirty="0">
                <a:latin typeface="+mj-lt"/>
              </a:rPr>
              <a:t>An effective </a:t>
            </a:r>
            <a:r>
              <a:rPr lang="en-IN" sz="2200" b="1" dirty="0">
                <a:latin typeface="+mj-lt"/>
              </a:rPr>
              <a:t>preprocessing and feature extraction pipeline</a:t>
            </a:r>
            <a:r>
              <a:rPr lang="en-IN" sz="2200" dirty="0">
                <a:latin typeface="+mj-lt"/>
              </a:rPr>
              <a:t> is applied to clean and normalize the data.</a:t>
            </a:r>
          </a:p>
          <a:p>
            <a:r>
              <a:rPr lang="en-IN" sz="2200" dirty="0">
                <a:latin typeface="+mj-lt"/>
              </a:rPr>
              <a:t>A </a:t>
            </a:r>
            <a:r>
              <a:rPr lang="en-IN" sz="2200" b="1" dirty="0">
                <a:latin typeface="+mj-lt"/>
              </a:rPr>
              <a:t>translation-based approach</a:t>
            </a:r>
            <a:r>
              <a:rPr lang="en-IN" sz="2200" dirty="0">
                <a:latin typeface="+mj-lt"/>
              </a:rPr>
              <a:t> is used to handle bilingual words and resolve language ambiguity.</a:t>
            </a:r>
          </a:p>
          <a:p>
            <a:r>
              <a:rPr lang="en-IN" sz="2200" dirty="0">
                <a:latin typeface="+mj-lt"/>
              </a:rPr>
              <a:t>Multiple </a:t>
            </a:r>
            <a:r>
              <a:rPr lang="en-IN" sz="2200" b="1" dirty="0">
                <a:latin typeface="+mj-lt"/>
              </a:rPr>
              <a:t>machine learning classifiers</a:t>
            </a:r>
            <a:r>
              <a:rPr lang="en-IN" sz="2200" dirty="0">
                <a:latin typeface="+mj-lt"/>
              </a:rPr>
              <a:t> are trained and evaluated for sentiment prediction.</a:t>
            </a:r>
          </a:p>
          <a:p>
            <a:r>
              <a:rPr lang="en-IN" sz="2200" dirty="0">
                <a:latin typeface="+mj-lt"/>
              </a:rPr>
              <a:t>A </a:t>
            </a:r>
            <a:r>
              <a:rPr lang="en-IN" sz="2200" b="1" dirty="0">
                <a:latin typeface="+mj-lt"/>
              </a:rPr>
              <a:t>voting-based ensemble model</a:t>
            </a:r>
            <a:r>
              <a:rPr lang="en-IN" sz="2200" dirty="0">
                <a:latin typeface="+mj-lt"/>
              </a:rPr>
              <a:t> combines the strengths of individual classifiers, resulting in </a:t>
            </a:r>
            <a:r>
              <a:rPr lang="en-IN" sz="2200" b="1" dirty="0">
                <a:latin typeface="+mj-lt"/>
              </a:rPr>
              <a:t>improved sentiment classification accuracy</a:t>
            </a:r>
            <a:r>
              <a:rPr lang="en-IN" sz="2200" dirty="0">
                <a:latin typeface="+mj-lt"/>
              </a:rPr>
              <a:t>.</a:t>
            </a:r>
          </a:p>
          <a:p>
            <a:pPr marL="0" lvl="0" indent="0">
              <a:buNone/>
            </a:pPr>
            <a:endParaRPr lang="en-IN" sz="2500" b="1" u="sng" dirty="0">
              <a:latin typeface="+mj-lt"/>
              <a:ea typeface="Times New Roman"/>
              <a:cs typeface="Arial" panose="020B0604020202020204" pitchFamily="34" charset="0"/>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B9A8BD0-548B-D991-1AB8-9FC589EC2FD9}"/>
              </a:ext>
            </a:extLst>
          </p:cNvPr>
          <p:cNvSpPr txBox="1"/>
          <p:nvPr/>
        </p:nvSpPr>
        <p:spPr>
          <a:xfrm>
            <a:off x="779646" y="175895"/>
            <a:ext cx="11030552" cy="1015663"/>
          </a:xfrm>
          <a:prstGeom prst="rect">
            <a:avLst/>
          </a:prstGeom>
          <a:noFill/>
        </p:spPr>
        <p:txBody>
          <a:bodyPr wrap="square">
            <a:spAutoFit/>
          </a:bodyPr>
          <a:lstStyle/>
          <a:p>
            <a:r>
              <a:rPr lang="en-US" sz="3500" b="1" u="sng" dirty="0">
                <a:latin typeface="Arial" panose="020B0604020202020204" pitchFamily="34" charset="0"/>
                <a:ea typeface="Times New Roman"/>
                <a:cs typeface="Arial" panose="020B0604020202020204" pitchFamily="34" charset="0"/>
                <a:sym typeface="Times New Roman"/>
              </a:rPr>
              <a:t>Objectives:</a:t>
            </a:r>
          </a:p>
          <a:p>
            <a:endParaRPr lang="en-US" sz="25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166D7C85-E77E-0CD8-3998-5627FBD7F15C}"/>
              </a:ext>
            </a:extLst>
          </p:cNvPr>
          <p:cNvSpPr txBox="1"/>
          <p:nvPr/>
        </p:nvSpPr>
        <p:spPr>
          <a:xfrm>
            <a:off x="779646" y="942680"/>
            <a:ext cx="11030552" cy="4324261"/>
          </a:xfrm>
          <a:prstGeom prst="rect">
            <a:avLst/>
          </a:prstGeom>
          <a:noFill/>
        </p:spPr>
        <p:txBody>
          <a:bodyPr wrap="square" rtlCol="0">
            <a:spAutoFit/>
          </a:bodyPr>
          <a:lstStyle/>
          <a:p>
            <a:r>
              <a:rPr lang="en-IN" sz="2500" dirty="0"/>
              <a:t>1. To develop a </a:t>
            </a:r>
            <a:r>
              <a:rPr lang="en-IN" sz="2500" b="1" dirty="0"/>
              <a:t>bilingual sentiment analysis system</a:t>
            </a:r>
            <a:r>
              <a:rPr lang="en-IN" sz="2500" dirty="0"/>
              <a:t> capable of classifying </a:t>
            </a:r>
            <a:r>
              <a:rPr lang="en-IN" sz="2500" b="1" dirty="0"/>
              <a:t>Hindi–English code-mixed (Hinglish) tweets</a:t>
            </a:r>
            <a:r>
              <a:rPr lang="en-IN" sz="2500" dirty="0"/>
              <a:t> as positive or negative.</a:t>
            </a:r>
          </a:p>
          <a:p>
            <a:r>
              <a:rPr lang="en-IN" sz="2500" dirty="0"/>
              <a:t>2. To preprocess and normalize noisy Twitter data by handling </a:t>
            </a:r>
            <a:r>
              <a:rPr lang="en-IN" sz="2500" b="1" dirty="0"/>
              <a:t>spelling variations, negation, and bilingual vocabulary</a:t>
            </a:r>
            <a:r>
              <a:rPr lang="en-IN" sz="2500" dirty="0"/>
              <a:t>.</a:t>
            </a:r>
          </a:p>
          <a:p>
            <a:r>
              <a:rPr lang="en-IN" sz="2500" dirty="0"/>
              <a:t>3. To extract </a:t>
            </a:r>
            <a:r>
              <a:rPr lang="en-IN" sz="2500" b="1" dirty="0"/>
              <a:t>sentiment-bearing linguistic features</a:t>
            </a:r>
            <a:r>
              <a:rPr lang="en-IN" sz="2500" dirty="0"/>
              <a:t> such as adjectives, adverbs, and abstract nouns for effective classification.</a:t>
            </a:r>
          </a:p>
          <a:p>
            <a:r>
              <a:rPr lang="en-IN" sz="2500" dirty="0"/>
              <a:t>4. To train and evaluate multiple </a:t>
            </a:r>
            <a:r>
              <a:rPr lang="en-IN" sz="2500" b="1" dirty="0"/>
              <a:t>machine learning classifiers</a:t>
            </a:r>
            <a:r>
              <a:rPr lang="en-IN" sz="2500" dirty="0"/>
              <a:t> on Hinglish data.</a:t>
            </a:r>
          </a:p>
          <a:p>
            <a:r>
              <a:rPr lang="en-IN" sz="2500" dirty="0"/>
              <a:t>5. To design a </a:t>
            </a:r>
            <a:r>
              <a:rPr lang="en-IN" sz="2500" b="1" dirty="0"/>
              <a:t>voting-based hybrid ensemble model</a:t>
            </a:r>
            <a:r>
              <a:rPr lang="en-IN" sz="2500" dirty="0"/>
              <a:t> that improves sentiment prediction accuracy compared to individual classifiers.</a:t>
            </a:r>
          </a:p>
          <a:p>
            <a:r>
              <a:rPr lang="en-IN" sz="2500" dirty="0"/>
              <a:t> </a:t>
            </a:r>
          </a:p>
        </p:txBody>
      </p:sp>
    </p:spTree>
    <p:extLst>
      <p:ext uri="{BB962C8B-B14F-4D97-AF65-F5344CB8AC3E}">
        <p14:creationId xmlns:p14="http://schemas.microsoft.com/office/powerpoint/2010/main" val="3561730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D0D2547-C9A3-AE71-F071-35F08DEE4A23}"/>
              </a:ext>
            </a:extLst>
          </p:cNvPr>
          <p:cNvSpPr txBox="1"/>
          <p:nvPr/>
        </p:nvSpPr>
        <p:spPr>
          <a:xfrm>
            <a:off x="886917" y="161263"/>
            <a:ext cx="9636177" cy="1169551"/>
          </a:xfrm>
          <a:prstGeom prst="rect">
            <a:avLst/>
          </a:prstGeom>
          <a:noFill/>
        </p:spPr>
        <p:txBody>
          <a:bodyPr wrap="square">
            <a:spAutoFit/>
          </a:bodyPr>
          <a:lstStyle/>
          <a:p>
            <a:r>
              <a:rPr lang="en-IN" sz="2000" b="1" u="sng" dirty="0"/>
              <a:t>Literature Survey</a:t>
            </a:r>
          </a:p>
          <a:p>
            <a:endParaRPr lang="en-IN" sz="2500" u="sng" dirty="0"/>
          </a:p>
          <a:p>
            <a:endParaRPr lang="en-IN" sz="2500" u="sng" dirty="0"/>
          </a:p>
        </p:txBody>
      </p:sp>
      <p:graphicFrame>
        <p:nvGraphicFramePr>
          <p:cNvPr id="2" name="Table 1">
            <a:extLst>
              <a:ext uri="{FF2B5EF4-FFF2-40B4-BE49-F238E27FC236}">
                <a16:creationId xmlns:a16="http://schemas.microsoft.com/office/drawing/2014/main" id="{05E23280-2871-1032-65C1-BB6F4D25F197}"/>
              </a:ext>
            </a:extLst>
          </p:cNvPr>
          <p:cNvGraphicFramePr>
            <a:graphicFrameLocks noGrp="1"/>
          </p:cNvGraphicFramePr>
          <p:nvPr>
            <p:extLst>
              <p:ext uri="{D42A27DB-BD31-4B8C-83A1-F6EECF244321}">
                <p14:modId xmlns:p14="http://schemas.microsoft.com/office/powerpoint/2010/main" val="1750279734"/>
              </p:ext>
            </p:extLst>
          </p:nvPr>
        </p:nvGraphicFramePr>
        <p:xfrm>
          <a:off x="529389" y="558266"/>
          <a:ext cx="11355464" cy="5965968"/>
        </p:xfrm>
        <a:graphic>
          <a:graphicData uri="http://schemas.openxmlformats.org/drawingml/2006/table">
            <a:tbl>
              <a:tblPr/>
              <a:tblGrid>
                <a:gridCol w="2224858">
                  <a:extLst>
                    <a:ext uri="{9D8B030D-6E8A-4147-A177-3AD203B41FA5}">
                      <a16:colId xmlns:a16="http://schemas.microsoft.com/office/drawing/2014/main" val="1060467572"/>
                    </a:ext>
                  </a:extLst>
                </a:gridCol>
                <a:gridCol w="2224858">
                  <a:extLst>
                    <a:ext uri="{9D8B030D-6E8A-4147-A177-3AD203B41FA5}">
                      <a16:colId xmlns:a16="http://schemas.microsoft.com/office/drawing/2014/main" val="1781700403"/>
                    </a:ext>
                  </a:extLst>
                </a:gridCol>
                <a:gridCol w="2456032">
                  <a:extLst>
                    <a:ext uri="{9D8B030D-6E8A-4147-A177-3AD203B41FA5}">
                      <a16:colId xmlns:a16="http://schemas.microsoft.com/office/drawing/2014/main" val="2307465624"/>
                    </a:ext>
                  </a:extLst>
                </a:gridCol>
                <a:gridCol w="2224858">
                  <a:extLst>
                    <a:ext uri="{9D8B030D-6E8A-4147-A177-3AD203B41FA5}">
                      <a16:colId xmlns:a16="http://schemas.microsoft.com/office/drawing/2014/main" val="2181758846"/>
                    </a:ext>
                  </a:extLst>
                </a:gridCol>
                <a:gridCol w="2224858">
                  <a:extLst>
                    <a:ext uri="{9D8B030D-6E8A-4147-A177-3AD203B41FA5}">
                      <a16:colId xmlns:a16="http://schemas.microsoft.com/office/drawing/2014/main" val="2311228420"/>
                    </a:ext>
                  </a:extLst>
                </a:gridCol>
              </a:tblGrid>
              <a:tr h="211154">
                <a:tc>
                  <a:txBody>
                    <a:bodyPr/>
                    <a:lstStyle/>
                    <a:p>
                      <a:pPr>
                        <a:buNone/>
                      </a:pPr>
                      <a:r>
                        <a:rPr lang="en-IN" sz="1200" b="1"/>
                        <a:t>Paper (Year)</a:t>
                      </a:r>
                      <a:endParaRPr lang="en-IN" sz="1200"/>
                    </a:p>
                  </a:txBody>
                  <a:tcPr marL="42383" marR="42383" marT="21192" marB="21192" anchor="ctr">
                    <a:lnL>
                      <a:noFill/>
                    </a:lnL>
                    <a:lnR>
                      <a:noFill/>
                    </a:lnR>
                    <a:lnT>
                      <a:noFill/>
                    </a:lnT>
                    <a:lnB>
                      <a:noFill/>
                    </a:lnB>
                    <a:noFill/>
                  </a:tcPr>
                </a:tc>
                <a:tc>
                  <a:txBody>
                    <a:bodyPr/>
                    <a:lstStyle/>
                    <a:p>
                      <a:pPr>
                        <a:buNone/>
                      </a:pPr>
                      <a:r>
                        <a:rPr lang="en-IN" sz="1200" b="1"/>
                        <a:t>Methodology</a:t>
                      </a:r>
                      <a:endParaRPr lang="en-IN" sz="1200"/>
                    </a:p>
                  </a:txBody>
                  <a:tcPr marL="42383" marR="42383" marT="21192" marB="21192" anchor="ctr">
                    <a:lnL>
                      <a:noFill/>
                    </a:lnL>
                    <a:lnR>
                      <a:noFill/>
                    </a:lnR>
                    <a:lnT>
                      <a:noFill/>
                    </a:lnT>
                    <a:lnB>
                      <a:noFill/>
                    </a:lnB>
                    <a:noFill/>
                  </a:tcPr>
                </a:tc>
                <a:tc>
                  <a:txBody>
                    <a:bodyPr/>
                    <a:lstStyle/>
                    <a:p>
                      <a:pPr>
                        <a:buNone/>
                      </a:pPr>
                      <a:r>
                        <a:rPr lang="en-IN" sz="1200" b="1"/>
                        <a:t>Dataset</a:t>
                      </a:r>
                      <a:endParaRPr lang="en-IN" sz="1200"/>
                    </a:p>
                  </a:txBody>
                  <a:tcPr marL="42383" marR="42383" marT="21192" marB="21192" anchor="ctr">
                    <a:lnL>
                      <a:noFill/>
                    </a:lnL>
                    <a:lnR>
                      <a:noFill/>
                    </a:lnR>
                    <a:lnT>
                      <a:noFill/>
                    </a:lnT>
                    <a:lnB>
                      <a:noFill/>
                    </a:lnB>
                    <a:noFill/>
                  </a:tcPr>
                </a:tc>
                <a:tc>
                  <a:txBody>
                    <a:bodyPr/>
                    <a:lstStyle/>
                    <a:p>
                      <a:pPr>
                        <a:buNone/>
                      </a:pPr>
                      <a:r>
                        <a:rPr lang="en-IN" sz="1200" b="1"/>
                        <a:t>Advantages</a:t>
                      </a:r>
                      <a:endParaRPr lang="en-IN" sz="1200"/>
                    </a:p>
                  </a:txBody>
                  <a:tcPr marL="42383" marR="42383" marT="21192" marB="21192" anchor="ctr">
                    <a:lnL>
                      <a:noFill/>
                    </a:lnL>
                    <a:lnR>
                      <a:noFill/>
                    </a:lnR>
                    <a:lnT>
                      <a:noFill/>
                    </a:lnT>
                    <a:lnB>
                      <a:noFill/>
                    </a:lnB>
                    <a:noFill/>
                  </a:tcPr>
                </a:tc>
                <a:tc>
                  <a:txBody>
                    <a:bodyPr/>
                    <a:lstStyle/>
                    <a:p>
                      <a:pPr>
                        <a:buNone/>
                      </a:pPr>
                      <a:r>
                        <a:rPr lang="en-IN" sz="1200" b="1"/>
                        <a:t>Limitations</a:t>
                      </a:r>
                      <a:endParaRPr lang="en-IN" sz="1200"/>
                    </a:p>
                  </a:txBody>
                  <a:tcPr marL="42383" marR="42383" marT="21192" marB="21192" anchor="ctr">
                    <a:lnL>
                      <a:noFill/>
                    </a:lnL>
                    <a:lnR>
                      <a:noFill/>
                    </a:lnR>
                    <a:lnT>
                      <a:noFill/>
                    </a:lnT>
                    <a:lnB>
                      <a:noFill/>
                    </a:lnB>
                    <a:noFill/>
                  </a:tcPr>
                </a:tc>
                <a:extLst>
                  <a:ext uri="{0D108BD9-81ED-4DB2-BD59-A6C34878D82A}">
                    <a16:rowId xmlns:a16="http://schemas.microsoft.com/office/drawing/2014/main" val="3315440647"/>
                  </a:ext>
                </a:extLst>
              </a:tr>
              <a:tr h="725429">
                <a:tc>
                  <a:txBody>
                    <a:bodyPr/>
                    <a:lstStyle/>
                    <a:p>
                      <a:pPr>
                        <a:buNone/>
                      </a:pPr>
                      <a:r>
                        <a:rPr lang="en-IN" sz="1200" dirty="0"/>
                        <a:t>Joshi </a:t>
                      </a:r>
                      <a:r>
                        <a:rPr lang="en-IN" sz="1200" i="1" dirty="0"/>
                        <a:t>et al.</a:t>
                      </a:r>
                      <a:r>
                        <a:rPr lang="en-IN" sz="1200" dirty="0"/>
                        <a:t> (2016)</a:t>
                      </a:r>
                    </a:p>
                  </a:txBody>
                  <a:tcPr marL="42383" marR="42383" marT="21192" marB="21192" anchor="ctr">
                    <a:lnL>
                      <a:noFill/>
                    </a:lnL>
                    <a:lnR>
                      <a:noFill/>
                    </a:lnR>
                    <a:lnT>
                      <a:noFill/>
                    </a:lnT>
                    <a:lnB>
                      <a:noFill/>
                    </a:lnB>
                    <a:noFill/>
                  </a:tcPr>
                </a:tc>
                <a:tc>
                  <a:txBody>
                    <a:bodyPr/>
                    <a:lstStyle/>
                    <a:p>
                      <a:pPr>
                        <a:buNone/>
                      </a:pPr>
                      <a:r>
                        <a:rPr lang="en-US" sz="1200" b="1" dirty="0" err="1"/>
                        <a:t>Subword</a:t>
                      </a:r>
                      <a:r>
                        <a:rPr lang="en-US" sz="1200" b="1" dirty="0"/>
                        <a:t>-LSTM:</a:t>
                      </a:r>
                      <a:r>
                        <a:rPr lang="en-US" sz="1200" dirty="0"/>
                        <a:t> Learn sub-word (morpheme) embeddings in an LSTM for Hi-En code-mix.</a:t>
                      </a:r>
                    </a:p>
                  </a:txBody>
                  <a:tcPr marL="42383" marR="42383" marT="21192" marB="21192" anchor="ctr">
                    <a:lnL>
                      <a:noFill/>
                    </a:lnL>
                    <a:lnR>
                      <a:noFill/>
                    </a:lnR>
                    <a:lnT>
                      <a:noFill/>
                    </a:lnT>
                    <a:lnB>
                      <a:noFill/>
                    </a:lnB>
                    <a:noFill/>
                  </a:tcPr>
                </a:tc>
                <a:tc>
                  <a:txBody>
                    <a:bodyPr/>
                    <a:lstStyle/>
                    <a:p>
                      <a:pPr>
                        <a:buNone/>
                      </a:pPr>
                      <a:r>
                        <a:rPr lang="en-US" sz="1200"/>
                        <a:t>Introduced a new Hindi-English tweet dataset for sentiment.</a:t>
                      </a:r>
                    </a:p>
                  </a:txBody>
                  <a:tcPr marL="42383" marR="42383" marT="21192" marB="21192" anchor="ctr">
                    <a:lnL>
                      <a:noFill/>
                    </a:lnL>
                    <a:lnR>
                      <a:noFill/>
                    </a:lnR>
                    <a:lnT>
                      <a:noFill/>
                    </a:lnT>
                    <a:lnB>
                      <a:noFill/>
                    </a:lnB>
                    <a:noFill/>
                  </a:tcPr>
                </a:tc>
                <a:tc>
                  <a:txBody>
                    <a:bodyPr/>
                    <a:lstStyle/>
                    <a:p>
                      <a:pPr>
                        <a:buNone/>
                      </a:pPr>
                      <a:r>
                        <a:rPr lang="en-US" sz="1200"/>
                        <a:t>+ Improves over character/word LSTM by ~5% (accuracy); robust to noisy spelling.</a:t>
                      </a:r>
                    </a:p>
                  </a:txBody>
                  <a:tcPr marL="42383" marR="42383" marT="21192" marB="21192" anchor="ctr">
                    <a:lnL>
                      <a:noFill/>
                    </a:lnL>
                    <a:lnR>
                      <a:noFill/>
                    </a:lnR>
                    <a:lnT>
                      <a:noFill/>
                    </a:lnT>
                    <a:lnB>
                      <a:noFill/>
                    </a:lnB>
                    <a:noFill/>
                  </a:tcPr>
                </a:tc>
                <a:tc>
                  <a:txBody>
                    <a:bodyPr/>
                    <a:lstStyle/>
                    <a:p>
                      <a:pPr>
                        <a:buNone/>
                      </a:pPr>
                      <a:r>
                        <a:rPr lang="en-US" sz="1200"/>
                        <a:t>– No usage of modern transformers or attention; dataset size limited.</a:t>
                      </a:r>
                    </a:p>
                  </a:txBody>
                  <a:tcPr marL="42383" marR="42383" marT="21192" marB="21192" anchor="ctr">
                    <a:lnL>
                      <a:noFill/>
                    </a:lnL>
                    <a:lnR>
                      <a:noFill/>
                    </a:lnR>
                    <a:lnT>
                      <a:noFill/>
                    </a:lnT>
                    <a:lnB>
                      <a:noFill/>
                    </a:lnB>
                    <a:noFill/>
                  </a:tcPr>
                </a:tc>
                <a:extLst>
                  <a:ext uri="{0D108BD9-81ED-4DB2-BD59-A6C34878D82A}">
                    <a16:rowId xmlns:a16="http://schemas.microsoft.com/office/drawing/2014/main" val="3488795323"/>
                  </a:ext>
                </a:extLst>
              </a:tr>
              <a:tr h="896854">
                <a:tc>
                  <a:txBody>
                    <a:bodyPr/>
                    <a:lstStyle/>
                    <a:p>
                      <a:pPr>
                        <a:buNone/>
                      </a:pPr>
                      <a:r>
                        <a:rPr lang="en-IN" sz="1200" dirty="0"/>
                        <a:t>Lal </a:t>
                      </a:r>
                      <a:r>
                        <a:rPr lang="en-IN" sz="1200" i="1" dirty="0"/>
                        <a:t>et al.</a:t>
                      </a:r>
                      <a:r>
                        <a:rPr lang="en-IN" sz="1200" dirty="0"/>
                        <a:t> (2019)</a:t>
                      </a:r>
                    </a:p>
                  </a:txBody>
                  <a:tcPr marL="42383" marR="42383" marT="21192" marB="21192" anchor="ctr">
                    <a:lnL>
                      <a:noFill/>
                    </a:lnL>
                    <a:lnR>
                      <a:noFill/>
                    </a:lnR>
                    <a:lnT>
                      <a:noFill/>
                    </a:lnT>
                    <a:lnB>
                      <a:noFill/>
                    </a:lnB>
                    <a:noFill/>
                  </a:tcPr>
                </a:tc>
                <a:tc>
                  <a:txBody>
                    <a:bodyPr/>
                    <a:lstStyle/>
                    <a:p>
                      <a:pPr>
                        <a:buNone/>
                      </a:pPr>
                      <a:r>
                        <a:rPr lang="en-US" sz="1200" b="1"/>
                        <a:t>Dual-Encoder CNN/BiLSTM:</a:t>
                      </a:r>
                      <a:r>
                        <a:rPr lang="en-US" sz="1200"/>
                        <a:t> CNN extracts sub-word features; two BiLSTM (“Collective” + “Specific” with attention) + feature network.</a:t>
                      </a:r>
                    </a:p>
                  </a:txBody>
                  <a:tcPr marL="42383" marR="42383" marT="21192" marB="21192" anchor="ctr">
                    <a:lnL>
                      <a:noFill/>
                    </a:lnL>
                    <a:lnR>
                      <a:noFill/>
                    </a:lnR>
                    <a:lnT>
                      <a:noFill/>
                    </a:lnT>
                    <a:lnB>
                      <a:noFill/>
                    </a:lnB>
                    <a:noFill/>
                  </a:tcPr>
                </a:tc>
                <a:tc>
                  <a:txBody>
                    <a:bodyPr/>
                    <a:lstStyle/>
                    <a:p>
                      <a:pPr>
                        <a:buNone/>
                      </a:pPr>
                      <a:r>
                        <a:rPr lang="en-US" sz="1200" dirty="0"/>
                        <a:t>Benchmark Hinglish sentiment dataset (from prior works).</a:t>
                      </a:r>
                    </a:p>
                  </a:txBody>
                  <a:tcPr marL="42383" marR="42383" marT="21192" marB="21192" anchor="ctr">
                    <a:lnL>
                      <a:noFill/>
                    </a:lnL>
                    <a:lnR>
                      <a:noFill/>
                    </a:lnR>
                    <a:lnT>
                      <a:noFill/>
                    </a:lnT>
                    <a:lnB>
                      <a:noFill/>
                    </a:lnB>
                    <a:noFill/>
                  </a:tcPr>
                </a:tc>
                <a:tc>
                  <a:txBody>
                    <a:bodyPr/>
                    <a:lstStyle/>
                    <a:p>
                      <a:pPr>
                        <a:buNone/>
                      </a:pPr>
                      <a:r>
                        <a:rPr lang="en-US" sz="1200"/>
                        <a:t>+ Achieved SOTA: 83.5% accuracy, F1=0.827; handles multi-sentiment clauses (e.g., “X but Y”).</a:t>
                      </a:r>
                    </a:p>
                  </a:txBody>
                  <a:tcPr marL="42383" marR="42383" marT="21192" marB="21192" anchor="ctr">
                    <a:lnL>
                      <a:noFill/>
                    </a:lnL>
                    <a:lnR>
                      <a:noFill/>
                    </a:lnR>
                    <a:lnT>
                      <a:noFill/>
                    </a:lnT>
                    <a:lnB>
                      <a:noFill/>
                    </a:lnB>
                    <a:noFill/>
                  </a:tcPr>
                </a:tc>
                <a:tc>
                  <a:txBody>
                    <a:bodyPr/>
                    <a:lstStyle/>
                    <a:p>
                      <a:pPr>
                        <a:buNone/>
                      </a:pPr>
                      <a:r>
                        <a:rPr lang="en-US" sz="1200"/>
                        <a:t>– Complex architecture with many components; specific to their dataset.</a:t>
                      </a:r>
                    </a:p>
                  </a:txBody>
                  <a:tcPr marL="42383" marR="42383" marT="21192" marB="21192" anchor="ctr">
                    <a:lnL>
                      <a:noFill/>
                    </a:lnL>
                    <a:lnR>
                      <a:noFill/>
                    </a:lnR>
                    <a:lnT>
                      <a:noFill/>
                    </a:lnT>
                    <a:lnB>
                      <a:noFill/>
                    </a:lnB>
                    <a:noFill/>
                  </a:tcPr>
                </a:tc>
                <a:extLst>
                  <a:ext uri="{0D108BD9-81ED-4DB2-BD59-A6C34878D82A}">
                    <a16:rowId xmlns:a16="http://schemas.microsoft.com/office/drawing/2014/main" val="4212948153"/>
                  </a:ext>
                </a:extLst>
              </a:tr>
              <a:tr h="896854">
                <a:tc>
                  <a:txBody>
                    <a:bodyPr/>
                    <a:lstStyle/>
                    <a:p>
                      <a:pPr>
                        <a:buNone/>
                      </a:pPr>
                      <a:r>
                        <a:rPr lang="en-IN" sz="1200"/>
                        <a:t>Singh &amp; Lefever (2020)</a:t>
                      </a:r>
                    </a:p>
                  </a:txBody>
                  <a:tcPr marL="42383" marR="42383" marT="21192" marB="21192" anchor="ctr">
                    <a:lnL>
                      <a:noFill/>
                    </a:lnL>
                    <a:lnR>
                      <a:noFill/>
                    </a:lnR>
                    <a:lnT>
                      <a:noFill/>
                    </a:lnT>
                    <a:lnB>
                      <a:noFill/>
                    </a:lnB>
                    <a:noFill/>
                  </a:tcPr>
                </a:tc>
                <a:tc>
                  <a:txBody>
                    <a:bodyPr/>
                    <a:lstStyle/>
                    <a:p>
                      <a:pPr>
                        <a:buNone/>
                      </a:pPr>
                      <a:r>
                        <a:rPr lang="en-US" sz="1200" b="1"/>
                        <a:t>Cross-lingual embeddings:</a:t>
                      </a:r>
                      <a:r>
                        <a:rPr lang="en-US" sz="1200"/>
                        <a:t> Train monolingual and bilingual word embeddings; use them in SVM classifier and transfer learning.</a:t>
                      </a:r>
                    </a:p>
                  </a:txBody>
                  <a:tcPr marL="42383" marR="42383" marT="21192" marB="21192" anchor="ctr">
                    <a:lnL>
                      <a:noFill/>
                    </a:lnL>
                    <a:lnR>
                      <a:noFill/>
                    </a:lnR>
                    <a:lnT>
                      <a:noFill/>
                    </a:lnT>
                    <a:lnB>
                      <a:noFill/>
                    </a:lnB>
                    <a:noFill/>
                  </a:tcPr>
                </a:tc>
                <a:tc>
                  <a:txBody>
                    <a:bodyPr/>
                    <a:lstStyle/>
                    <a:p>
                      <a:pPr>
                        <a:buNone/>
                      </a:pPr>
                      <a:r>
                        <a:rPr lang="en-US" sz="1200" dirty="0"/>
                        <a:t>Large Twitter collection (English + Hinglish).</a:t>
                      </a:r>
                    </a:p>
                  </a:txBody>
                  <a:tcPr marL="42383" marR="42383" marT="21192" marB="21192" anchor="ctr">
                    <a:lnL>
                      <a:noFill/>
                    </a:lnL>
                    <a:lnR>
                      <a:noFill/>
                    </a:lnR>
                    <a:lnT>
                      <a:noFill/>
                    </a:lnT>
                    <a:lnB>
                      <a:noFill/>
                    </a:lnB>
                    <a:noFill/>
                  </a:tcPr>
                </a:tc>
                <a:tc>
                  <a:txBody>
                    <a:bodyPr/>
                    <a:lstStyle/>
                    <a:p>
                      <a:pPr>
                        <a:buNone/>
                      </a:pPr>
                      <a:r>
                        <a:rPr lang="en-US" sz="1200"/>
                        <a:t>+ Cross-lingual embeddings improved F1 from 0.616 to 0.635 without parallel data; enables zero-shot transfer between languages.</a:t>
                      </a:r>
                    </a:p>
                  </a:txBody>
                  <a:tcPr marL="42383" marR="42383" marT="21192" marB="21192" anchor="ctr">
                    <a:lnL>
                      <a:noFill/>
                    </a:lnL>
                    <a:lnR>
                      <a:noFill/>
                    </a:lnR>
                    <a:lnT>
                      <a:noFill/>
                    </a:lnT>
                    <a:lnB>
                      <a:noFill/>
                    </a:lnB>
                    <a:noFill/>
                  </a:tcPr>
                </a:tc>
                <a:tc>
                  <a:txBody>
                    <a:bodyPr/>
                    <a:lstStyle/>
                    <a:p>
                      <a:pPr>
                        <a:buNone/>
                      </a:pPr>
                      <a:r>
                        <a:rPr lang="en-US" sz="1200"/>
                        <a:t>– Overall F1 still modest (0.635); relies on large unlabeled corpora.</a:t>
                      </a:r>
                    </a:p>
                  </a:txBody>
                  <a:tcPr marL="42383" marR="42383" marT="21192" marB="21192" anchor="ctr">
                    <a:lnL>
                      <a:noFill/>
                    </a:lnL>
                    <a:lnR>
                      <a:noFill/>
                    </a:lnR>
                    <a:lnT>
                      <a:noFill/>
                    </a:lnT>
                    <a:lnB>
                      <a:noFill/>
                    </a:lnB>
                    <a:noFill/>
                  </a:tcPr>
                </a:tc>
                <a:extLst>
                  <a:ext uri="{0D108BD9-81ED-4DB2-BD59-A6C34878D82A}">
                    <a16:rowId xmlns:a16="http://schemas.microsoft.com/office/drawing/2014/main" val="1953024171"/>
                  </a:ext>
                </a:extLst>
              </a:tr>
              <a:tr h="896854">
                <a:tc>
                  <a:txBody>
                    <a:bodyPr/>
                    <a:lstStyle/>
                    <a:p>
                      <a:pPr>
                        <a:buNone/>
                      </a:pPr>
                      <a:r>
                        <a:rPr lang="en-IN" sz="1200" dirty="0" err="1"/>
                        <a:t>Bhange</a:t>
                      </a:r>
                      <a:r>
                        <a:rPr lang="en-IN" sz="1200" dirty="0"/>
                        <a:t> &amp; </a:t>
                      </a:r>
                      <a:r>
                        <a:rPr lang="en-IN" sz="1200" dirty="0" err="1"/>
                        <a:t>Kasliwal</a:t>
                      </a:r>
                      <a:r>
                        <a:rPr lang="en-IN" sz="1200" dirty="0"/>
                        <a:t> (2020)</a:t>
                      </a:r>
                    </a:p>
                  </a:txBody>
                  <a:tcPr marL="42383" marR="42383" marT="21192" marB="21192" anchor="ctr">
                    <a:lnL>
                      <a:noFill/>
                    </a:lnL>
                    <a:lnR>
                      <a:noFill/>
                    </a:lnR>
                    <a:lnT>
                      <a:noFill/>
                    </a:lnT>
                    <a:lnB>
                      <a:noFill/>
                    </a:lnB>
                    <a:noFill/>
                  </a:tcPr>
                </a:tc>
                <a:tc>
                  <a:txBody>
                    <a:bodyPr/>
                    <a:lstStyle/>
                    <a:p>
                      <a:pPr>
                        <a:buNone/>
                      </a:pPr>
                      <a:r>
                        <a:rPr lang="en-IN" sz="1200" b="1"/>
                        <a:t>Fine-tuned Transformers:</a:t>
                      </a:r>
                      <a:r>
                        <a:rPr lang="en-IN" sz="1200"/>
                        <a:t> Compare NB-SVM, ULMFiT, RoBERTa and ensemble on SemEval-2020 Sentimix.</a:t>
                      </a:r>
                    </a:p>
                  </a:txBody>
                  <a:tcPr marL="42383" marR="42383" marT="21192" marB="21192" anchor="ctr">
                    <a:lnL>
                      <a:noFill/>
                    </a:lnL>
                    <a:lnR>
                      <a:noFill/>
                    </a:lnR>
                    <a:lnT>
                      <a:noFill/>
                    </a:lnT>
                    <a:lnB>
                      <a:noFill/>
                    </a:lnB>
                    <a:noFill/>
                  </a:tcPr>
                </a:tc>
                <a:tc>
                  <a:txBody>
                    <a:bodyPr/>
                    <a:lstStyle/>
                    <a:p>
                      <a:pPr>
                        <a:buNone/>
                      </a:pPr>
                      <a:r>
                        <a:rPr lang="en-US" sz="1200"/>
                        <a:t>SemEval 2020 Task 9: ~17k Hinglish tweets (14k train, 3k test).</a:t>
                      </a:r>
                    </a:p>
                  </a:txBody>
                  <a:tcPr marL="42383" marR="42383" marT="21192" marB="21192" anchor="ctr">
                    <a:lnL>
                      <a:noFill/>
                    </a:lnL>
                    <a:lnR>
                      <a:noFill/>
                    </a:lnR>
                    <a:lnT>
                      <a:noFill/>
                    </a:lnT>
                    <a:lnB>
                      <a:noFill/>
                    </a:lnB>
                    <a:noFill/>
                  </a:tcPr>
                </a:tc>
                <a:tc>
                  <a:txBody>
                    <a:bodyPr/>
                    <a:lstStyle/>
                    <a:p>
                      <a:pPr>
                        <a:buNone/>
                      </a:pPr>
                      <a:r>
                        <a:rPr lang="en-US" sz="1200"/>
                        <a:t>+ Best F1=0.707 from a majority-vote ensemble; showed NB-SVM (classical) outperforms RoBERTa (6.2% F1 higher).</a:t>
                      </a:r>
                    </a:p>
                  </a:txBody>
                  <a:tcPr marL="42383" marR="42383" marT="21192" marB="21192" anchor="ctr">
                    <a:lnL>
                      <a:noFill/>
                    </a:lnL>
                    <a:lnR>
                      <a:noFill/>
                    </a:lnR>
                    <a:lnT>
                      <a:noFill/>
                    </a:lnT>
                    <a:lnB>
                      <a:noFill/>
                    </a:lnB>
                    <a:noFill/>
                  </a:tcPr>
                </a:tc>
                <a:tc>
                  <a:txBody>
                    <a:bodyPr/>
                    <a:lstStyle/>
                    <a:p>
                      <a:pPr>
                        <a:buNone/>
                      </a:pPr>
                      <a:r>
                        <a:rPr lang="en-US" sz="1200"/>
                        <a:t>– Surprisingly, larger models underperformed, likely due to limited labeled data. RoBERTa was not specialized for Hinglish.</a:t>
                      </a:r>
                    </a:p>
                  </a:txBody>
                  <a:tcPr marL="42383" marR="42383" marT="21192" marB="21192" anchor="ctr">
                    <a:lnL>
                      <a:noFill/>
                    </a:lnL>
                    <a:lnR>
                      <a:noFill/>
                    </a:lnR>
                    <a:lnT>
                      <a:noFill/>
                    </a:lnT>
                    <a:lnB>
                      <a:noFill/>
                    </a:lnB>
                    <a:noFill/>
                  </a:tcPr>
                </a:tc>
                <a:extLst>
                  <a:ext uri="{0D108BD9-81ED-4DB2-BD59-A6C34878D82A}">
                    <a16:rowId xmlns:a16="http://schemas.microsoft.com/office/drawing/2014/main" val="1334290253"/>
                  </a:ext>
                </a:extLst>
              </a:tr>
              <a:tr h="1068279">
                <a:tc>
                  <a:txBody>
                    <a:bodyPr/>
                    <a:lstStyle/>
                    <a:p>
                      <a:pPr>
                        <a:buNone/>
                      </a:pPr>
                      <a:r>
                        <a:rPr lang="en-IN" sz="1200"/>
                        <a:t>Hegde &amp; Shashirekha (2024)</a:t>
                      </a:r>
                    </a:p>
                  </a:txBody>
                  <a:tcPr marL="42383" marR="42383" marT="21192" marB="21192" anchor="ctr">
                    <a:lnL>
                      <a:noFill/>
                    </a:lnL>
                    <a:lnR>
                      <a:noFill/>
                    </a:lnR>
                    <a:lnT>
                      <a:noFill/>
                    </a:lnT>
                    <a:lnB>
                      <a:noFill/>
                    </a:lnB>
                    <a:noFill/>
                  </a:tcPr>
                </a:tc>
                <a:tc>
                  <a:txBody>
                    <a:bodyPr/>
                    <a:lstStyle/>
                    <a:p>
                      <a:pPr>
                        <a:buNone/>
                      </a:pPr>
                      <a:r>
                        <a:rPr lang="en-US" sz="1200" b="1"/>
                        <a:t>Multitask Transformers:</a:t>
                      </a:r>
                      <a:r>
                        <a:rPr lang="en-US" sz="1200"/>
                        <a:t> Pre-trained </a:t>
                      </a:r>
                      <a:r>
                        <a:rPr lang="en-US" sz="1200" i="1"/>
                        <a:t>Hinglish-BERT</a:t>
                      </a:r>
                      <a:r>
                        <a:rPr lang="en-US" sz="1200"/>
                        <a:t> fine-tuned for fake/hate detection. Uses ensemble of Hinglish-BERT and Multilingual DistilBERT in MTL.</a:t>
                      </a:r>
                    </a:p>
                  </a:txBody>
                  <a:tcPr marL="42383" marR="42383" marT="21192" marB="21192" anchor="ctr">
                    <a:lnL>
                      <a:noFill/>
                    </a:lnL>
                    <a:lnR>
                      <a:noFill/>
                    </a:lnR>
                    <a:lnT>
                      <a:noFill/>
                    </a:lnT>
                    <a:lnB>
                      <a:noFill/>
                    </a:lnB>
                    <a:noFill/>
                  </a:tcPr>
                </a:tc>
                <a:tc>
                  <a:txBody>
                    <a:bodyPr/>
                    <a:lstStyle/>
                    <a:p>
                      <a:pPr>
                        <a:buNone/>
                      </a:pPr>
                      <a:r>
                        <a:rPr lang="en-US" sz="1200"/>
                        <a:t>ICON 2024 Faux-Hate shared task (Hinglish Facebook comments).</a:t>
                      </a:r>
                    </a:p>
                  </a:txBody>
                  <a:tcPr marL="42383" marR="42383" marT="21192" marB="21192" anchor="ctr">
                    <a:lnL>
                      <a:noFill/>
                    </a:lnL>
                    <a:lnR>
                      <a:noFill/>
                    </a:lnR>
                    <a:lnT>
                      <a:noFill/>
                    </a:lnT>
                    <a:lnB>
                      <a:noFill/>
                    </a:lnB>
                    <a:noFill/>
                  </a:tcPr>
                </a:tc>
                <a:tc>
                  <a:txBody>
                    <a:bodyPr/>
                    <a:lstStyle/>
                    <a:p>
                      <a:pPr>
                        <a:buNone/>
                      </a:pPr>
                      <a:r>
                        <a:rPr lang="en-US" sz="1200"/>
                        <a:t>+ Hinglish-BERT (pre-trained on code-mix) captures nuance. Ensemble MTL achieved high macro-F1 (0.7589 on fake/hate).</a:t>
                      </a:r>
                    </a:p>
                  </a:txBody>
                  <a:tcPr marL="42383" marR="42383" marT="21192" marB="21192" anchor="ctr">
                    <a:lnL>
                      <a:noFill/>
                    </a:lnL>
                    <a:lnR>
                      <a:noFill/>
                    </a:lnR>
                    <a:lnT>
                      <a:noFill/>
                    </a:lnT>
                    <a:lnB>
                      <a:noFill/>
                    </a:lnB>
                    <a:noFill/>
                  </a:tcPr>
                </a:tc>
                <a:tc>
                  <a:txBody>
                    <a:bodyPr/>
                    <a:lstStyle/>
                    <a:p>
                      <a:pPr>
                        <a:buNone/>
                      </a:pPr>
                      <a:r>
                        <a:rPr lang="en-US" sz="1200"/>
                        <a:t>– Focused on fake/hate detection, not pure sentiment. Hinglish-BERT pretrained on limited domains.</a:t>
                      </a:r>
                    </a:p>
                  </a:txBody>
                  <a:tcPr marL="42383" marR="42383" marT="21192" marB="21192" anchor="ctr">
                    <a:lnL>
                      <a:noFill/>
                    </a:lnL>
                    <a:lnR>
                      <a:noFill/>
                    </a:lnR>
                    <a:lnT>
                      <a:noFill/>
                    </a:lnT>
                    <a:lnB>
                      <a:noFill/>
                    </a:lnB>
                    <a:noFill/>
                  </a:tcPr>
                </a:tc>
                <a:extLst>
                  <a:ext uri="{0D108BD9-81ED-4DB2-BD59-A6C34878D82A}">
                    <a16:rowId xmlns:a16="http://schemas.microsoft.com/office/drawing/2014/main" val="1960641234"/>
                  </a:ext>
                </a:extLst>
              </a:tr>
              <a:tr h="896854">
                <a:tc>
                  <a:txBody>
                    <a:bodyPr/>
                    <a:lstStyle/>
                    <a:p>
                      <a:pPr>
                        <a:buNone/>
                      </a:pPr>
                      <a:r>
                        <a:rPr lang="en-IN" sz="1200" dirty="0"/>
                        <a:t>Kumar </a:t>
                      </a:r>
                      <a:r>
                        <a:rPr lang="en-IN" sz="1200" i="1" dirty="0"/>
                        <a:t>et al.</a:t>
                      </a:r>
                      <a:r>
                        <a:rPr lang="en-IN" sz="1200" dirty="0"/>
                        <a:t> (2025)</a:t>
                      </a:r>
                    </a:p>
                  </a:txBody>
                  <a:tcPr marL="42383" marR="42383" marT="21192" marB="21192" anchor="ctr">
                    <a:lnL>
                      <a:noFill/>
                    </a:lnL>
                    <a:lnR>
                      <a:noFill/>
                    </a:lnR>
                    <a:lnT>
                      <a:noFill/>
                    </a:lnT>
                    <a:lnB>
                      <a:noFill/>
                    </a:lnB>
                    <a:noFill/>
                  </a:tcPr>
                </a:tc>
                <a:tc>
                  <a:txBody>
                    <a:bodyPr/>
                    <a:lstStyle/>
                    <a:p>
                      <a:pPr>
                        <a:buNone/>
                      </a:pPr>
                      <a:r>
                        <a:rPr lang="en-IN" sz="1200" b="1" dirty="0"/>
                        <a:t>XLM-R + </a:t>
                      </a:r>
                      <a:r>
                        <a:rPr lang="en-IN" sz="1200" b="1" dirty="0" err="1"/>
                        <a:t>FNet</a:t>
                      </a:r>
                      <a:r>
                        <a:rPr lang="en-IN" sz="1200" b="1" dirty="0"/>
                        <a:t>/</a:t>
                      </a:r>
                      <a:r>
                        <a:rPr lang="en-IN" sz="1200" b="1" dirty="0" err="1"/>
                        <a:t>FastFormer</a:t>
                      </a:r>
                      <a:r>
                        <a:rPr lang="en-IN" sz="1200" b="1" dirty="0"/>
                        <a:t>:</a:t>
                      </a:r>
                      <a:r>
                        <a:rPr lang="en-IN" sz="1200" dirty="0"/>
                        <a:t> Enhance XLM-</a:t>
                      </a:r>
                      <a:r>
                        <a:rPr lang="en-IN" sz="1200" dirty="0" err="1"/>
                        <a:t>RoBERTa</a:t>
                      </a:r>
                      <a:r>
                        <a:rPr lang="en-IN" sz="1200" dirty="0"/>
                        <a:t> by integrating Fourier/</a:t>
                      </a:r>
                      <a:r>
                        <a:rPr lang="en-IN" sz="1200" dirty="0" err="1"/>
                        <a:t>FNet</a:t>
                      </a:r>
                      <a:r>
                        <a:rPr lang="en-IN" sz="1200" dirty="0"/>
                        <a:t> and </a:t>
                      </a:r>
                      <a:r>
                        <a:rPr lang="en-IN" sz="1200" dirty="0" err="1"/>
                        <a:t>FastFormer</a:t>
                      </a:r>
                      <a:r>
                        <a:rPr lang="en-IN" sz="1200" dirty="0"/>
                        <a:t> layers for </a:t>
                      </a:r>
                      <a:r>
                        <a:rPr lang="en-IN" sz="1200" dirty="0" err="1"/>
                        <a:t>sentiment+emotion</a:t>
                      </a:r>
                      <a:r>
                        <a:rPr lang="en-IN" sz="1200" dirty="0"/>
                        <a:t>.</a:t>
                      </a:r>
                    </a:p>
                  </a:txBody>
                  <a:tcPr marL="42383" marR="42383" marT="21192" marB="21192" anchor="ctr">
                    <a:lnL>
                      <a:noFill/>
                    </a:lnL>
                    <a:lnR>
                      <a:noFill/>
                    </a:lnR>
                    <a:lnT>
                      <a:noFill/>
                    </a:lnT>
                    <a:lnB>
                      <a:noFill/>
                    </a:lnB>
                    <a:noFill/>
                  </a:tcPr>
                </a:tc>
                <a:tc>
                  <a:txBody>
                    <a:bodyPr/>
                    <a:lstStyle/>
                    <a:p>
                      <a:pPr>
                        <a:buNone/>
                      </a:pPr>
                      <a:r>
                        <a:rPr lang="en-IN" sz="1200"/>
                        <a:t>SentiMix dataset (from Patwa 2020).</a:t>
                      </a:r>
                    </a:p>
                  </a:txBody>
                  <a:tcPr marL="42383" marR="42383" marT="21192" marB="21192" anchor="ctr">
                    <a:lnL>
                      <a:noFill/>
                    </a:lnL>
                    <a:lnR>
                      <a:noFill/>
                    </a:lnR>
                    <a:lnT>
                      <a:noFill/>
                    </a:lnT>
                    <a:lnB>
                      <a:noFill/>
                    </a:lnB>
                    <a:noFill/>
                  </a:tcPr>
                </a:tc>
                <a:tc>
                  <a:txBody>
                    <a:bodyPr/>
                    <a:lstStyle/>
                    <a:p>
                      <a:pPr>
                        <a:buNone/>
                      </a:pPr>
                      <a:r>
                        <a:rPr lang="en-US" sz="1200"/>
                        <a:t>+ Improved accuracy/F1 over vanilla XLMR on sentiment+emotion. Leverages frequency-domain features for subtle emotions.</a:t>
                      </a:r>
                    </a:p>
                  </a:txBody>
                  <a:tcPr marL="42383" marR="42383" marT="21192" marB="21192" anchor="ctr">
                    <a:lnL>
                      <a:noFill/>
                    </a:lnL>
                    <a:lnR>
                      <a:noFill/>
                    </a:lnR>
                    <a:lnT>
                      <a:noFill/>
                    </a:lnT>
                    <a:lnB>
                      <a:noFill/>
                    </a:lnB>
                    <a:noFill/>
                  </a:tcPr>
                </a:tc>
                <a:tc>
                  <a:txBody>
                    <a:bodyPr/>
                    <a:lstStyle/>
                    <a:p>
                      <a:pPr>
                        <a:buNone/>
                      </a:pPr>
                      <a:r>
                        <a:rPr lang="en-US" sz="1200" dirty="0"/>
                        <a:t>– Very heavy models; evaluated only on one benchmark. Complexity may limit practical use.</a:t>
                      </a:r>
                    </a:p>
                  </a:txBody>
                  <a:tcPr marL="42383" marR="42383" marT="21192" marB="21192" anchor="ctr">
                    <a:lnL>
                      <a:noFill/>
                    </a:lnL>
                    <a:lnR>
                      <a:noFill/>
                    </a:lnR>
                    <a:lnT>
                      <a:noFill/>
                    </a:lnT>
                    <a:lnB>
                      <a:noFill/>
                    </a:lnB>
                    <a:noFill/>
                  </a:tcPr>
                </a:tc>
                <a:extLst>
                  <a:ext uri="{0D108BD9-81ED-4DB2-BD59-A6C34878D82A}">
                    <a16:rowId xmlns:a16="http://schemas.microsoft.com/office/drawing/2014/main" val="2268495896"/>
                  </a:ext>
                </a:extLst>
              </a:tr>
            </a:tbl>
          </a:graphicData>
        </a:graphic>
      </p:graphicFrame>
    </p:spTree>
    <p:extLst>
      <p:ext uri="{BB962C8B-B14F-4D97-AF65-F5344CB8AC3E}">
        <p14:creationId xmlns:p14="http://schemas.microsoft.com/office/powerpoint/2010/main" val="28377578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2A1A943-E9C6-68AA-096D-CB37CDEBCAAC}"/>
              </a:ext>
            </a:extLst>
          </p:cNvPr>
          <p:cNvSpPr txBox="1"/>
          <p:nvPr/>
        </p:nvSpPr>
        <p:spPr>
          <a:xfrm>
            <a:off x="804804" y="204621"/>
            <a:ext cx="10909141" cy="4878259"/>
          </a:xfrm>
          <a:prstGeom prst="rect">
            <a:avLst/>
          </a:prstGeom>
          <a:noFill/>
        </p:spPr>
        <p:txBody>
          <a:bodyPr wrap="square">
            <a:spAutoFit/>
          </a:bodyPr>
          <a:lstStyle/>
          <a:p>
            <a:r>
              <a:rPr lang="en-US" sz="3600" b="1" u="sng" dirty="0"/>
              <a:t>Research Gaps</a:t>
            </a:r>
            <a:r>
              <a:rPr lang="en-US" sz="1000" b="1" u="sng" dirty="0"/>
              <a:t> </a:t>
            </a:r>
            <a:endParaRPr lang="en-US" sz="3500" b="1" u="sng" dirty="0"/>
          </a:p>
          <a:p>
            <a:r>
              <a:rPr lang="en-IN" sz="2500" b="1" dirty="0"/>
              <a:t>Limited data:</a:t>
            </a:r>
            <a:r>
              <a:rPr lang="en-IN" sz="2500" dirty="0"/>
              <a:t> Existing Hinglish sentiment corpora are small (e.g. ~17k tweets). More diverse domains (reviews, news comments) are needed.</a:t>
            </a:r>
          </a:p>
          <a:p>
            <a:r>
              <a:rPr lang="en-IN" sz="2500" b="1" dirty="0"/>
              <a:t>Model shortcomings:</a:t>
            </a:r>
            <a:r>
              <a:rPr lang="en-IN" sz="2500" dirty="0"/>
              <a:t> Pretrained multilingual LMs (</a:t>
            </a:r>
            <a:r>
              <a:rPr lang="en-IN" sz="2500" dirty="0" err="1"/>
              <a:t>mBERT</a:t>
            </a:r>
            <a:r>
              <a:rPr lang="en-IN" sz="2500" dirty="0"/>
              <a:t>, XLM-R) “often falter” on code-mixed text since they were trained on monolingual corpora. Capturing mixed-language context remains hard.</a:t>
            </a:r>
          </a:p>
          <a:p>
            <a:r>
              <a:rPr lang="en-IN" sz="2500" b="1" dirty="0"/>
              <a:t>Linguistic challenges:</a:t>
            </a:r>
            <a:r>
              <a:rPr lang="en-IN" sz="2500" dirty="0"/>
              <a:t> Handling </a:t>
            </a:r>
            <a:r>
              <a:rPr lang="en-IN" sz="2500" b="1" dirty="0"/>
              <a:t>negation</a:t>
            </a:r>
            <a:r>
              <a:rPr lang="en-IN" sz="2500" dirty="0"/>
              <a:t>, </a:t>
            </a:r>
            <a:r>
              <a:rPr lang="en-IN" sz="2500" b="1" dirty="0"/>
              <a:t>sarcasm</a:t>
            </a:r>
            <a:r>
              <a:rPr lang="en-IN" sz="2500" dirty="0"/>
              <a:t>, idioms and regional slang in Hinglish is underexplored. Most studies focus on coarse polarity (</a:t>
            </a:r>
            <a:r>
              <a:rPr lang="en-IN" sz="2500" dirty="0" err="1"/>
              <a:t>pos</a:t>
            </a:r>
            <a:r>
              <a:rPr lang="en-IN" sz="2500" dirty="0"/>
              <a:t>/neg/neu).</a:t>
            </a:r>
          </a:p>
          <a:p>
            <a:r>
              <a:rPr lang="en-IN" sz="2500" b="1" dirty="0"/>
              <a:t>Resource imbalance:</a:t>
            </a:r>
            <a:r>
              <a:rPr lang="en-IN" sz="2500" dirty="0"/>
              <a:t> Hindi and Hinglish NLP tools (tokenizers, lexicons) are scarce compared to English. Research on robust transliteration and language identification is needed.</a:t>
            </a:r>
          </a:p>
        </p:txBody>
      </p:sp>
    </p:spTree>
    <p:extLst>
      <p:ext uri="{BB962C8B-B14F-4D97-AF65-F5344CB8AC3E}">
        <p14:creationId xmlns:p14="http://schemas.microsoft.com/office/powerpoint/2010/main" val="16315948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D25A3-172A-8A46-C914-CA7DAB3C3006}"/>
              </a:ext>
            </a:extLst>
          </p:cNvPr>
          <p:cNvSpPr>
            <a:spLocks noGrp="1"/>
          </p:cNvSpPr>
          <p:nvPr>
            <p:ph type="title"/>
          </p:nvPr>
        </p:nvSpPr>
        <p:spPr>
          <a:xfrm>
            <a:off x="763572" y="179110"/>
            <a:ext cx="11161336" cy="593888"/>
          </a:xfrm>
        </p:spPr>
        <p:txBody>
          <a:bodyPr/>
          <a:lstStyle/>
          <a:p>
            <a:r>
              <a:rPr lang="en-IN" sz="3600" b="1" u="sng" dirty="0" err="1">
                <a:latin typeface="+mj-lt"/>
              </a:rPr>
              <a:t>DataSet</a:t>
            </a:r>
            <a:endParaRPr lang="en-IN" sz="3600" b="1" u="sng" dirty="0">
              <a:latin typeface="+mj-lt"/>
            </a:endParaRPr>
          </a:p>
        </p:txBody>
      </p:sp>
      <p:sp>
        <p:nvSpPr>
          <p:cNvPr id="5" name="TextBox 4">
            <a:extLst>
              <a:ext uri="{FF2B5EF4-FFF2-40B4-BE49-F238E27FC236}">
                <a16:creationId xmlns:a16="http://schemas.microsoft.com/office/drawing/2014/main" id="{AD2371CF-A9FE-4CFB-F101-F21EC8760DFA}"/>
              </a:ext>
            </a:extLst>
          </p:cNvPr>
          <p:cNvSpPr txBox="1"/>
          <p:nvPr/>
        </p:nvSpPr>
        <p:spPr>
          <a:xfrm>
            <a:off x="763572" y="772998"/>
            <a:ext cx="11161335" cy="707886"/>
          </a:xfrm>
          <a:prstGeom prst="rect">
            <a:avLst/>
          </a:prstGeom>
          <a:noFill/>
        </p:spPr>
        <p:txBody>
          <a:bodyPr wrap="square">
            <a:spAutoFit/>
          </a:bodyPr>
          <a:lstStyle/>
          <a:p>
            <a:r>
              <a:rPr lang="en-US" sz="2000" dirty="0">
                <a:solidFill>
                  <a:schemeClr val="tx1"/>
                </a:solidFill>
              </a:rPr>
              <a:t>The dataset that was used was obtained from “Kaggle” called the </a:t>
            </a:r>
            <a:r>
              <a:rPr lang="en-US" sz="2000" u="sng" dirty="0">
                <a:solidFill>
                  <a:schemeClr val="tx1"/>
                </a:solidFill>
                <a:hlinkClick r:id="rId2">
                  <a:extLst>
                    <a:ext uri="{A12FA001-AC4F-418D-AE19-62706E023703}">
                      <ahyp:hlinkClr xmlns:ahyp="http://schemas.microsoft.com/office/drawing/2018/hyperlinkcolor" val="tx"/>
                    </a:ext>
                  </a:extLst>
                </a:hlinkClick>
              </a:rPr>
              <a:t>Sentiment140 dataset</a:t>
            </a:r>
            <a:r>
              <a:rPr lang="en-US" sz="2000" dirty="0">
                <a:solidFill>
                  <a:schemeClr val="tx1"/>
                </a:solidFill>
              </a:rPr>
              <a:t>. The dataset </a:t>
            </a:r>
            <a:r>
              <a:rPr lang="en-US" sz="2000" dirty="0" err="1">
                <a:solidFill>
                  <a:schemeClr val="tx1"/>
                </a:solidFill>
              </a:rPr>
              <a:t>snpashot</a:t>
            </a:r>
            <a:r>
              <a:rPr lang="en-US" sz="2000" dirty="0">
                <a:solidFill>
                  <a:schemeClr val="tx1"/>
                </a:solidFill>
              </a:rPr>
              <a:t> has been attached below for reference -</a:t>
            </a:r>
            <a:endParaRPr lang="en-IN" sz="2000" dirty="0">
              <a:solidFill>
                <a:schemeClr val="tx1"/>
              </a:solidFill>
            </a:endParaRPr>
          </a:p>
        </p:txBody>
      </p:sp>
      <p:pic>
        <p:nvPicPr>
          <p:cNvPr id="1026" name="Picture 2">
            <a:extLst>
              <a:ext uri="{FF2B5EF4-FFF2-40B4-BE49-F238E27FC236}">
                <a16:creationId xmlns:a16="http://schemas.microsoft.com/office/drawing/2014/main" id="{CAA215AC-F3B8-16AE-E752-BAFBE49CFA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3570" y="1480884"/>
            <a:ext cx="11161335" cy="294971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6A854E3-9529-E580-A443-BB2081AF2307}"/>
              </a:ext>
            </a:extLst>
          </p:cNvPr>
          <p:cNvSpPr txBox="1"/>
          <p:nvPr/>
        </p:nvSpPr>
        <p:spPr>
          <a:xfrm>
            <a:off x="763570" y="4571687"/>
            <a:ext cx="11161335" cy="1631216"/>
          </a:xfrm>
          <a:prstGeom prst="rect">
            <a:avLst/>
          </a:prstGeom>
          <a:noFill/>
        </p:spPr>
        <p:txBody>
          <a:bodyPr wrap="square">
            <a:spAutoFit/>
          </a:bodyPr>
          <a:lstStyle/>
          <a:p>
            <a:r>
              <a:rPr lang="en-US" sz="2000" dirty="0"/>
              <a:t>It contains </a:t>
            </a:r>
            <a:r>
              <a:rPr lang="en-US" sz="2000" b="1" dirty="0"/>
              <a:t>16,00,000 tweets extracted using the twitter API</a:t>
            </a:r>
            <a:r>
              <a:rPr lang="en-US" sz="2000" dirty="0"/>
              <a:t>. The tweets have been annotated </a:t>
            </a:r>
            <a:r>
              <a:rPr lang="en-US" sz="2000" b="1" dirty="0"/>
              <a:t>(0 = negative, 2 = neutral, 4 = positive) </a:t>
            </a:r>
            <a:r>
              <a:rPr lang="en-US" sz="2000" dirty="0"/>
              <a:t>and they can be used to detect sentiment. But only </a:t>
            </a:r>
            <a:r>
              <a:rPr lang="en-US" sz="2000" b="1" dirty="0"/>
              <a:t>40000 rows </a:t>
            </a:r>
            <a:r>
              <a:rPr lang="en-US" sz="2000" dirty="0"/>
              <a:t>where</a:t>
            </a:r>
            <a:r>
              <a:rPr lang="en-US" sz="2000" b="1" dirty="0"/>
              <a:t> randomly selected </a:t>
            </a:r>
            <a:r>
              <a:rPr lang="en-US" sz="2000" dirty="0"/>
              <a:t>from this dataset, with </a:t>
            </a:r>
            <a:r>
              <a:rPr lang="en-US" sz="2000" b="1" dirty="0"/>
              <a:t>equal distribution of positive and negative tweets</a:t>
            </a:r>
            <a:r>
              <a:rPr lang="en-US" sz="2000" dirty="0"/>
              <a:t>, i.e. </a:t>
            </a:r>
            <a:r>
              <a:rPr lang="en-US" sz="2000" b="1" dirty="0"/>
              <a:t>neutral tweets were ignored </a:t>
            </a:r>
            <a:r>
              <a:rPr lang="en-US" sz="2000" dirty="0"/>
              <a:t>as this </a:t>
            </a:r>
            <a:r>
              <a:rPr lang="en-US" sz="2000" b="1" dirty="0"/>
              <a:t>study focuses on binary classification.</a:t>
            </a:r>
            <a:endParaRPr lang="en-IN" sz="2000" b="1" dirty="0"/>
          </a:p>
        </p:txBody>
      </p:sp>
    </p:spTree>
    <p:extLst>
      <p:ext uri="{BB962C8B-B14F-4D97-AF65-F5344CB8AC3E}">
        <p14:creationId xmlns:p14="http://schemas.microsoft.com/office/powerpoint/2010/main" val="12072238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1" name="Google Shape;151;p24"/>
          <p:cNvSpPr txBox="1"/>
          <p:nvPr/>
        </p:nvSpPr>
        <p:spPr>
          <a:xfrm>
            <a:off x="605991" y="120900"/>
            <a:ext cx="3898632" cy="579900"/>
          </a:xfrm>
          <a:prstGeom prst="rect">
            <a:avLst/>
          </a:prstGeom>
          <a:noFill/>
          <a:ln>
            <a:noFill/>
          </a:ln>
        </p:spPr>
        <p:txBody>
          <a:bodyPr spcFirstLastPara="1" wrap="square" lIns="91425" tIns="45700" rIns="91425" bIns="45700" anchor="t" anchorCtr="0">
            <a:noAutofit/>
          </a:bodyPr>
          <a:lstStyle/>
          <a:p>
            <a:pPr algn="ctr">
              <a:lnSpc>
                <a:spcPct val="90000"/>
              </a:lnSpc>
              <a:spcBef>
                <a:spcPts val="1000"/>
              </a:spcBef>
            </a:pPr>
            <a:r>
              <a:rPr lang="en-IN" sz="3600" b="1" u="sng" dirty="0"/>
              <a:t>Preprocessing</a:t>
            </a:r>
            <a:endParaRPr lang="en-IN" sz="3600" u="sng" dirty="0"/>
          </a:p>
        </p:txBody>
      </p:sp>
      <p:sp>
        <p:nvSpPr>
          <p:cNvPr id="2" name="Rectangle 1">
            <a:extLst>
              <a:ext uri="{FF2B5EF4-FFF2-40B4-BE49-F238E27FC236}">
                <a16:creationId xmlns:a16="http://schemas.microsoft.com/office/drawing/2014/main" id="{D3D766C4-082C-5B26-3F72-C47D5456B8FC}"/>
              </a:ext>
            </a:extLst>
          </p:cNvPr>
          <p:cNvSpPr>
            <a:spLocks noChangeArrowheads="1"/>
          </p:cNvSpPr>
          <p:nvPr/>
        </p:nvSpPr>
        <p:spPr bwMode="auto">
          <a:xfrm>
            <a:off x="843868" y="1016869"/>
            <a:ext cx="11014455"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a:buAutoNum type="arabicPeriod"/>
            </a:pPr>
            <a:r>
              <a:rPr lang="en-US" sz="2000" dirty="0"/>
              <a:t>First, only a handful of columns were used from the set of 6 columns. These columns used were </a:t>
            </a:r>
            <a:r>
              <a:rPr lang="en-US" sz="2000" i="1" dirty="0"/>
              <a:t>Tweet</a:t>
            </a:r>
            <a:r>
              <a:rPr lang="en-US" sz="2000" dirty="0"/>
              <a:t> and </a:t>
            </a:r>
            <a:r>
              <a:rPr lang="en-US" sz="2000" i="1" dirty="0"/>
              <a:t>Label</a:t>
            </a:r>
            <a:r>
              <a:rPr lang="en-US" sz="2000" dirty="0"/>
              <a:t>. The remaining columns were discarded as they were not needed.</a:t>
            </a:r>
          </a:p>
          <a:p>
            <a:pPr lvl="0"/>
            <a:endParaRPr lang="en-US" sz="2000" dirty="0"/>
          </a:p>
          <a:p>
            <a:endParaRPr lang="en-US" sz="2000" dirty="0"/>
          </a:p>
        </p:txBody>
      </p:sp>
      <p:pic>
        <p:nvPicPr>
          <p:cNvPr id="6150" name="Picture 6">
            <a:extLst>
              <a:ext uri="{FF2B5EF4-FFF2-40B4-BE49-F238E27FC236}">
                <a16:creationId xmlns:a16="http://schemas.microsoft.com/office/drawing/2014/main" id="{9768665B-BFEC-5E7B-0F96-0D4949FE7E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399" y="1963554"/>
            <a:ext cx="11014455" cy="387757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43B5EC-BDE8-012C-8647-448D01C4081A}"/>
              </a:ext>
            </a:extLst>
          </p:cNvPr>
          <p:cNvSpPr txBox="1"/>
          <p:nvPr/>
        </p:nvSpPr>
        <p:spPr>
          <a:xfrm>
            <a:off x="808522" y="202131"/>
            <a:ext cx="11078678" cy="5170646"/>
          </a:xfrm>
          <a:prstGeom prst="rect">
            <a:avLst/>
          </a:prstGeom>
          <a:noFill/>
        </p:spPr>
        <p:txBody>
          <a:bodyPr wrap="square">
            <a:spAutoFit/>
          </a:bodyPr>
          <a:lstStyle/>
          <a:p>
            <a:r>
              <a:rPr lang="en-US" sz="2200" dirty="0"/>
              <a:t>2. Next, any </a:t>
            </a:r>
            <a:r>
              <a:rPr lang="en-US" sz="2200" b="1" dirty="0"/>
              <a:t>HTML tags</a:t>
            </a:r>
            <a:r>
              <a:rPr lang="en-US" sz="2200" dirty="0"/>
              <a:t> present in the text </a:t>
            </a:r>
            <a:r>
              <a:rPr lang="en-US" sz="2200" b="1" dirty="0"/>
              <a:t>were removed </a:t>
            </a:r>
            <a:r>
              <a:rPr lang="en-US" sz="2200" dirty="0"/>
              <a:t>with the help of </a:t>
            </a:r>
            <a:r>
              <a:rPr lang="en-US" sz="2200" b="1" dirty="0" err="1"/>
              <a:t>BeautifulSoup</a:t>
            </a:r>
            <a:r>
              <a:rPr lang="en-US" sz="2200" b="1" dirty="0"/>
              <a:t> package</a:t>
            </a:r>
            <a:r>
              <a:rPr lang="en-US" sz="2200" dirty="0"/>
              <a:t>. </a:t>
            </a:r>
            <a:r>
              <a:rPr lang="en-US" sz="2200" b="1" dirty="0"/>
              <a:t>Quotation marks </a:t>
            </a:r>
            <a:r>
              <a:rPr lang="en-US" sz="2200" dirty="0"/>
              <a:t>( ‘, “) and </a:t>
            </a:r>
            <a:r>
              <a:rPr lang="en-US" sz="2200" b="1" dirty="0"/>
              <a:t>URLs</a:t>
            </a:r>
            <a:r>
              <a:rPr lang="en-US" sz="2200" dirty="0"/>
              <a:t> were </a:t>
            </a:r>
            <a:r>
              <a:rPr lang="en-US" sz="2200" b="1" dirty="0"/>
              <a:t>removed</a:t>
            </a:r>
            <a:r>
              <a:rPr lang="en-US" sz="2200" dirty="0"/>
              <a:t> as they are </a:t>
            </a:r>
            <a:r>
              <a:rPr lang="en-US" sz="2200" b="1" dirty="0"/>
              <a:t>unnecessary</a:t>
            </a:r>
            <a:r>
              <a:rPr lang="en-US" sz="2200" dirty="0"/>
              <a:t> for the sentiment analysis of the text. If any </a:t>
            </a:r>
            <a:r>
              <a:rPr lang="en-US" sz="2200" b="1" dirty="0"/>
              <a:t>emoticons</a:t>
            </a:r>
            <a:r>
              <a:rPr lang="en-US" sz="2200" dirty="0"/>
              <a:t> were used in the tweet, they were </a:t>
            </a:r>
            <a:r>
              <a:rPr lang="en-US" sz="2200" b="1" dirty="0"/>
              <a:t>converted</a:t>
            </a:r>
            <a:r>
              <a:rPr lang="en-US" sz="2200" dirty="0"/>
              <a:t> into their </a:t>
            </a:r>
            <a:r>
              <a:rPr lang="en-US" sz="2200" b="1" dirty="0"/>
              <a:t>equivalent emotion </a:t>
            </a:r>
            <a:r>
              <a:rPr lang="en-US" sz="2200" dirty="0"/>
              <a:t>that they are intended to signify, and the </a:t>
            </a:r>
            <a:r>
              <a:rPr lang="en-US" sz="2200" b="1" dirty="0"/>
              <a:t>emojis were removed</a:t>
            </a:r>
            <a:r>
              <a:rPr lang="en-US" sz="2200" dirty="0"/>
              <a:t>.</a:t>
            </a:r>
          </a:p>
          <a:p>
            <a:r>
              <a:rPr lang="en-US" sz="2200" dirty="0"/>
              <a:t>3. Then, all the </a:t>
            </a:r>
            <a:r>
              <a:rPr lang="en-US" sz="2200" b="1" dirty="0"/>
              <a:t>words</a:t>
            </a:r>
            <a:r>
              <a:rPr lang="en-US" sz="2200" dirty="0"/>
              <a:t> in the text are </a:t>
            </a:r>
            <a:r>
              <a:rPr lang="en-US" sz="2200" b="1" dirty="0"/>
              <a:t>converted</a:t>
            </a:r>
            <a:r>
              <a:rPr lang="en-US" sz="2200" dirty="0"/>
              <a:t> to </a:t>
            </a:r>
            <a:r>
              <a:rPr lang="en-US" sz="2200" b="1" dirty="0"/>
              <a:t>lower case</a:t>
            </a:r>
            <a:r>
              <a:rPr lang="en-US" sz="2200" dirty="0"/>
              <a:t> and </a:t>
            </a:r>
            <a:r>
              <a:rPr lang="en-US" sz="2200" b="1" dirty="0"/>
              <a:t>repeating words </a:t>
            </a:r>
            <a:r>
              <a:rPr lang="en-US" sz="2200" dirty="0"/>
              <a:t>in the </a:t>
            </a:r>
            <a:r>
              <a:rPr lang="en-US" sz="2200" b="1" dirty="0"/>
              <a:t>same tweet are removed</a:t>
            </a:r>
            <a:r>
              <a:rPr lang="en-US" sz="2200" dirty="0"/>
              <a:t>.</a:t>
            </a:r>
          </a:p>
          <a:p>
            <a:r>
              <a:rPr lang="en-US" sz="2200" dirty="0"/>
              <a:t>4. </a:t>
            </a:r>
            <a:r>
              <a:rPr lang="en-US" sz="2200" b="1" dirty="0"/>
              <a:t>Concatenated words</a:t>
            </a:r>
            <a:r>
              <a:rPr lang="en-US" sz="2200" dirty="0"/>
              <a:t>, i.e. words which </a:t>
            </a:r>
            <a:r>
              <a:rPr lang="en-US" sz="2200" b="1" dirty="0"/>
              <a:t>were joined </a:t>
            </a:r>
            <a:r>
              <a:rPr lang="en-US" sz="2200" dirty="0"/>
              <a:t>such as “Can’t” were expanded to “Can not”.</a:t>
            </a:r>
          </a:p>
          <a:p>
            <a:r>
              <a:rPr lang="en-US" sz="2200" dirty="0"/>
              <a:t>5. The data cleaning process also included the </a:t>
            </a:r>
            <a:r>
              <a:rPr lang="en-US" sz="2200" b="1" dirty="0"/>
              <a:t>removal of punctuations, numbers, special characters and user handles or tags </a:t>
            </a:r>
            <a:r>
              <a:rPr lang="en-US" sz="2200" dirty="0"/>
              <a:t>(“@” symbol followed by the account handle). </a:t>
            </a:r>
            <a:r>
              <a:rPr lang="en-US" sz="2200" b="1" dirty="0" err="1"/>
              <a:t>Stopwords</a:t>
            </a:r>
            <a:r>
              <a:rPr lang="en-US" sz="2200" b="1" dirty="0"/>
              <a:t>, other than ‘not’ and the word ‘is’ were also removed from the text</a:t>
            </a:r>
            <a:r>
              <a:rPr lang="en-US" sz="2200" dirty="0"/>
              <a:t>.</a:t>
            </a:r>
          </a:p>
          <a:p>
            <a:r>
              <a:rPr lang="en-US" sz="2200" dirty="0"/>
              <a:t>6. The cleaned tweet contained corrected spellings of all words, because of the use of the </a:t>
            </a:r>
            <a:r>
              <a:rPr lang="en-US" sz="2200" b="1" dirty="0"/>
              <a:t>‘</a:t>
            </a:r>
            <a:r>
              <a:rPr lang="en-US" sz="2200" b="1" dirty="0" err="1"/>
              <a:t>SpellChecker</a:t>
            </a:r>
            <a:r>
              <a:rPr lang="en-US" sz="2200" b="1" dirty="0"/>
              <a:t>’ package</a:t>
            </a:r>
            <a:r>
              <a:rPr lang="en-US" sz="2200" dirty="0"/>
              <a:t>. All words with length equal to one were also removed. </a:t>
            </a:r>
            <a:endParaRPr lang="en-IN" sz="2200" dirty="0"/>
          </a:p>
        </p:txBody>
      </p:sp>
    </p:spTree>
    <p:extLst>
      <p:ext uri="{BB962C8B-B14F-4D97-AF65-F5344CB8AC3E}">
        <p14:creationId xmlns:p14="http://schemas.microsoft.com/office/powerpoint/2010/main" val="27394310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6" name="Picture 4">
            <a:extLst>
              <a:ext uri="{FF2B5EF4-FFF2-40B4-BE49-F238E27FC236}">
                <a16:creationId xmlns:a16="http://schemas.microsoft.com/office/drawing/2014/main" id="{5EC237C2-D911-316D-8582-0BECFAEE63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7398" y="236271"/>
            <a:ext cx="10972799" cy="56543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94186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4E2465D-AC2F-FB48-90A2-AAD11CB39462}"/>
              </a:ext>
            </a:extLst>
          </p:cNvPr>
          <p:cNvSpPr txBox="1"/>
          <p:nvPr/>
        </p:nvSpPr>
        <p:spPr>
          <a:xfrm>
            <a:off x="770021" y="126368"/>
            <a:ext cx="10809170" cy="1154162"/>
          </a:xfrm>
          <a:prstGeom prst="rect">
            <a:avLst/>
          </a:prstGeom>
          <a:noFill/>
        </p:spPr>
        <p:txBody>
          <a:bodyPr wrap="square">
            <a:spAutoFit/>
          </a:bodyPr>
          <a:lstStyle/>
          <a:p>
            <a:r>
              <a:rPr lang="en-US" sz="2300" dirty="0"/>
              <a:t>7.</a:t>
            </a:r>
            <a:r>
              <a:rPr lang="en-US" sz="1400" dirty="0"/>
              <a:t> </a:t>
            </a:r>
            <a:r>
              <a:rPr lang="en-US" sz="2300" dirty="0"/>
              <a:t>Next, the words were lemmatized, and words preceded by ‘not’ were substituted by their antonyms to represent the negation effect. Finally, the dataset contained the cleaned tweets</a:t>
            </a:r>
            <a:endParaRPr lang="en-IN" sz="2300" dirty="0"/>
          </a:p>
        </p:txBody>
      </p:sp>
      <p:pic>
        <p:nvPicPr>
          <p:cNvPr id="9218" name="Picture 2">
            <a:extLst>
              <a:ext uri="{FF2B5EF4-FFF2-40B4-BE49-F238E27FC236}">
                <a16:creationId xmlns:a16="http://schemas.microsoft.com/office/drawing/2014/main" id="{FF8BB6F1-E4CC-65BD-B7E5-F200B38FC5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6647" y="1404685"/>
            <a:ext cx="11075469" cy="35128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EA5E977-63D0-02E7-A9C9-624CA745FDFC}"/>
              </a:ext>
            </a:extLst>
          </p:cNvPr>
          <p:cNvSpPr txBox="1"/>
          <p:nvPr/>
        </p:nvSpPr>
        <p:spPr>
          <a:xfrm>
            <a:off x="856647" y="4840533"/>
            <a:ext cx="11075469" cy="1508105"/>
          </a:xfrm>
          <a:prstGeom prst="rect">
            <a:avLst/>
          </a:prstGeom>
          <a:noFill/>
        </p:spPr>
        <p:txBody>
          <a:bodyPr wrap="square">
            <a:spAutoFit/>
          </a:bodyPr>
          <a:lstStyle/>
          <a:p>
            <a:r>
              <a:rPr lang="en-US" sz="2300" dirty="0"/>
              <a:t>8. This dataset has three columns, namely </a:t>
            </a:r>
            <a:r>
              <a:rPr lang="en-US" sz="2300" i="1" dirty="0"/>
              <a:t>Tweet</a:t>
            </a:r>
            <a:r>
              <a:rPr lang="en-US" sz="2300" dirty="0"/>
              <a:t>, </a:t>
            </a:r>
            <a:r>
              <a:rPr lang="en-US" sz="2300" i="1" dirty="0"/>
              <a:t>Label</a:t>
            </a:r>
            <a:r>
              <a:rPr lang="en-US" sz="2300" dirty="0"/>
              <a:t> and </a:t>
            </a:r>
            <a:r>
              <a:rPr lang="en-US" sz="2300" i="1" dirty="0" err="1"/>
              <a:t>cleaned_tweets</a:t>
            </a:r>
            <a:r>
              <a:rPr lang="en-US" sz="2300" dirty="0"/>
              <a:t>. The first two are the ones taken from the original dataset. The last column is a derived column from all the preprocessing and contains just the features extracted from each of the tweet texts, as string.</a:t>
            </a:r>
            <a:endParaRPr lang="en-IN" sz="2300" dirty="0"/>
          </a:p>
        </p:txBody>
      </p:sp>
    </p:spTree>
    <p:extLst>
      <p:ext uri="{BB962C8B-B14F-4D97-AF65-F5344CB8AC3E}">
        <p14:creationId xmlns:p14="http://schemas.microsoft.com/office/powerpoint/2010/main" val="403714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5B234-8D48-C542-1C57-BD1D718BCFE3}"/>
              </a:ext>
            </a:extLst>
          </p:cNvPr>
          <p:cNvSpPr>
            <a:spLocks noGrp="1"/>
          </p:cNvSpPr>
          <p:nvPr>
            <p:ph type="title"/>
          </p:nvPr>
        </p:nvSpPr>
        <p:spPr>
          <a:xfrm>
            <a:off x="758855" y="131975"/>
            <a:ext cx="4675696" cy="820132"/>
          </a:xfrm>
        </p:spPr>
        <p:txBody>
          <a:bodyPr/>
          <a:lstStyle/>
          <a:p>
            <a:r>
              <a:rPr lang="en-IN" sz="3600" b="1" u="sng" dirty="0">
                <a:latin typeface="+mj-lt"/>
              </a:rPr>
              <a:t>Feature Extraction </a:t>
            </a:r>
          </a:p>
        </p:txBody>
      </p:sp>
      <p:sp>
        <p:nvSpPr>
          <p:cNvPr id="3" name="Text Placeholder 2">
            <a:extLst>
              <a:ext uri="{FF2B5EF4-FFF2-40B4-BE49-F238E27FC236}">
                <a16:creationId xmlns:a16="http://schemas.microsoft.com/office/drawing/2014/main" id="{F2AADEB7-5540-E9DF-E751-C31AE756E4A3}"/>
              </a:ext>
            </a:extLst>
          </p:cNvPr>
          <p:cNvSpPr>
            <a:spLocks noGrp="1"/>
          </p:cNvSpPr>
          <p:nvPr>
            <p:ph type="body" idx="1"/>
          </p:nvPr>
        </p:nvSpPr>
        <p:spPr>
          <a:xfrm>
            <a:off x="758855" y="744715"/>
            <a:ext cx="10925667" cy="3535053"/>
          </a:xfrm>
        </p:spPr>
        <p:txBody>
          <a:bodyPr/>
          <a:lstStyle/>
          <a:p>
            <a:pPr marL="50800" indent="0">
              <a:buNone/>
            </a:pPr>
            <a:r>
              <a:rPr lang="en-US" sz="2500" dirty="0"/>
              <a:t>Only </a:t>
            </a:r>
            <a:r>
              <a:rPr lang="en-US" sz="2500" b="1" dirty="0"/>
              <a:t>certain words </a:t>
            </a:r>
            <a:r>
              <a:rPr lang="en-US" sz="2500" dirty="0"/>
              <a:t>such as adjectives, adverbs, and abstract nouns were </a:t>
            </a:r>
            <a:r>
              <a:rPr lang="en-US" sz="2500" b="1" dirty="0"/>
              <a:t>kept</a:t>
            </a:r>
            <a:r>
              <a:rPr lang="en-US" sz="2500" dirty="0"/>
              <a:t> </a:t>
            </a:r>
            <a:r>
              <a:rPr lang="en-US" sz="2500" b="1" dirty="0"/>
              <a:t>because</a:t>
            </a:r>
            <a:r>
              <a:rPr lang="en-US" sz="2500" dirty="0"/>
              <a:t> they </a:t>
            </a:r>
            <a:r>
              <a:rPr lang="en-US" sz="2500" b="1" dirty="0"/>
              <a:t>contribute</a:t>
            </a:r>
            <a:r>
              <a:rPr lang="en-US" sz="2500" dirty="0"/>
              <a:t> most to </a:t>
            </a:r>
            <a:r>
              <a:rPr lang="en-US" sz="2500" b="1" dirty="0"/>
              <a:t>sentiment</a:t>
            </a:r>
            <a:r>
              <a:rPr lang="en-US" sz="2500" dirty="0"/>
              <a:t>. All other words were removed. For feature extraction, </a:t>
            </a:r>
            <a:r>
              <a:rPr lang="en-US" sz="2500" b="1" dirty="0"/>
              <a:t>each cleaned tweet </a:t>
            </a:r>
            <a:r>
              <a:rPr lang="en-US" sz="2500" dirty="0"/>
              <a:t>was </a:t>
            </a:r>
            <a:r>
              <a:rPr lang="en-US" sz="2500" b="1" dirty="0"/>
              <a:t>checked</a:t>
            </a:r>
            <a:r>
              <a:rPr lang="en-US" sz="2500" dirty="0"/>
              <a:t> against a predefined list </a:t>
            </a:r>
            <a:r>
              <a:rPr lang="en-US" sz="2500" b="1" dirty="0"/>
              <a:t>containing common adjectives, adverbs, and abstract nouns</a:t>
            </a:r>
            <a:r>
              <a:rPr lang="en-US" sz="2500" dirty="0"/>
              <a:t>. Words </a:t>
            </a:r>
            <a:r>
              <a:rPr lang="en-US" sz="2500" b="1" dirty="0"/>
              <a:t>found</a:t>
            </a:r>
            <a:r>
              <a:rPr lang="en-US" sz="2500" dirty="0"/>
              <a:t> in this list were </a:t>
            </a:r>
            <a:r>
              <a:rPr lang="en-US" sz="2500" b="1" dirty="0"/>
              <a:t>selected as features</a:t>
            </a:r>
            <a:r>
              <a:rPr lang="en-US" sz="2500" dirty="0"/>
              <a:t>, while the rest were discarded. The selected features for each tweet were </a:t>
            </a:r>
            <a:r>
              <a:rPr lang="en-US" sz="2500" b="1" dirty="0"/>
              <a:t>stored</a:t>
            </a:r>
            <a:r>
              <a:rPr lang="en-US" sz="2500" dirty="0"/>
              <a:t> in a </a:t>
            </a:r>
            <a:r>
              <a:rPr lang="en-US" sz="2500" b="1" dirty="0"/>
              <a:t>separate column</a:t>
            </a:r>
            <a:r>
              <a:rPr lang="en-US" sz="2500" dirty="0"/>
              <a:t>. This approach was used because </a:t>
            </a:r>
            <a:r>
              <a:rPr lang="en-US" sz="2500" b="1" dirty="0"/>
              <a:t>existing methods</a:t>
            </a:r>
            <a:r>
              <a:rPr lang="en-US" sz="2500" dirty="0"/>
              <a:t>, such as NLTK’s </a:t>
            </a:r>
            <a:r>
              <a:rPr lang="en-US" sz="2500" dirty="0" err="1"/>
              <a:t>pos_tag</a:t>
            </a:r>
            <a:r>
              <a:rPr lang="en-US" sz="2500" dirty="0"/>
              <a:t>, are </a:t>
            </a:r>
            <a:r>
              <a:rPr lang="en-US" sz="2500" b="1" dirty="0"/>
              <a:t>outdated</a:t>
            </a:r>
            <a:r>
              <a:rPr lang="en-US" sz="2500" dirty="0"/>
              <a:t> and sometimes </a:t>
            </a:r>
            <a:r>
              <a:rPr lang="en-US" sz="2500" b="1" dirty="0"/>
              <a:t>inaccurate</a:t>
            </a:r>
            <a:r>
              <a:rPr lang="en-US" sz="2500" dirty="0"/>
              <a:t> for example, the word </a:t>
            </a:r>
            <a:r>
              <a:rPr lang="en-US" sz="2500" i="1" dirty="0"/>
              <a:t>“clever”</a:t>
            </a:r>
            <a:r>
              <a:rPr lang="en-US" sz="2500" dirty="0"/>
              <a:t> is incorrectly tagged as a noun.</a:t>
            </a:r>
            <a:endParaRPr lang="en-IN" sz="2500" dirty="0"/>
          </a:p>
        </p:txBody>
      </p:sp>
    </p:spTree>
    <p:extLst>
      <p:ext uri="{BB962C8B-B14F-4D97-AF65-F5344CB8AC3E}">
        <p14:creationId xmlns:p14="http://schemas.microsoft.com/office/powerpoint/2010/main" val="37366988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2" name="TextBox 1">
            <a:extLst>
              <a:ext uri="{FF2B5EF4-FFF2-40B4-BE49-F238E27FC236}">
                <a16:creationId xmlns:a16="http://schemas.microsoft.com/office/drawing/2014/main" id="{561A8FA0-4768-6AEA-40B0-809621448385}"/>
              </a:ext>
            </a:extLst>
          </p:cNvPr>
          <p:cNvSpPr txBox="1"/>
          <p:nvPr/>
        </p:nvSpPr>
        <p:spPr>
          <a:xfrm>
            <a:off x="782425" y="202130"/>
            <a:ext cx="11124026" cy="7048083"/>
          </a:xfrm>
          <a:prstGeom prst="rect">
            <a:avLst/>
          </a:prstGeom>
          <a:noFill/>
        </p:spPr>
        <p:txBody>
          <a:bodyPr wrap="square" rtlCol="0">
            <a:spAutoFit/>
          </a:bodyPr>
          <a:lstStyle/>
          <a:p>
            <a:r>
              <a:rPr lang="en-IN" sz="3600" b="1" u="sng" dirty="0"/>
              <a:t>Methodology </a:t>
            </a:r>
          </a:p>
          <a:p>
            <a:pPr lvl="0"/>
            <a:r>
              <a:rPr lang="en-IN" sz="1600" b="1" dirty="0"/>
              <a:t>Dataset Collection and Selection</a:t>
            </a:r>
            <a:br>
              <a:rPr lang="en-IN" sz="1600" dirty="0"/>
            </a:br>
            <a:r>
              <a:rPr lang="en-IN" sz="1600" dirty="0"/>
              <a:t>A labelled Twitter dataset (Sentiment140) is used, from which 40,000 tweets are randomly selected with an equal distribution of positive and negative classes.</a:t>
            </a:r>
          </a:p>
          <a:p>
            <a:pPr lvl="0"/>
            <a:r>
              <a:rPr lang="en-IN" sz="1600" b="1" dirty="0"/>
              <a:t>Data Preprocessing</a:t>
            </a:r>
            <a:br>
              <a:rPr lang="en-IN" sz="1600" dirty="0"/>
            </a:br>
            <a:r>
              <a:rPr lang="en-IN" sz="1600" dirty="0"/>
              <a:t>The tweets are cleaned by removing noise such as URLs, HTML tags, emojis, and user mentions. Text normalization steps including lowercasing, spell correction, lemmatization, </a:t>
            </a:r>
            <a:r>
              <a:rPr lang="en-IN" sz="1600" dirty="0" err="1"/>
              <a:t>stopword</a:t>
            </a:r>
            <a:r>
              <a:rPr lang="en-IN" sz="1600" dirty="0"/>
              <a:t> removal (with negation handling), and contraction expansion are applied.</a:t>
            </a:r>
          </a:p>
          <a:p>
            <a:pPr lvl="0"/>
            <a:r>
              <a:rPr lang="en-IN" sz="1600" b="1" dirty="0"/>
              <a:t>Feature Extraction</a:t>
            </a:r>
            <a:br>
              <a:rPr lang="en-IN" sz="1600" dirty="0"/>
            </a:br>
            <a:r>
              <a:rPr lang="en-IN" sz="1600" dirty="0"/>
              <a:t>Sentiment-rich features such as </a:t>
            </a:r>
            <a:r>
              <a:rPr lang="en-IN" sz="1600" b="1" dirty="0"/>
              <a:t>adjectives, adverbs, and abstract nouns</a:t>
            </a:r>
            <a:r>
              <a:rPr lang="en-IN" sz="1600" dirty="0"/>
              <a:t> are extracted using a predefined linguistic dictionary to retain only emotionally significant words.</a:t>
            </a:r>
          </a:p>
          <a:p>
            <a:pPr lvl="0"/>
            <a:r>
              <a:rPr lang="en-IN" sz="1600" b="1" dirty="0"/>
              <a:t>Bilingual Text Handling</a:t>
            </a:r>
            <a:br>
              <a:rPr lang="en-IN" sz="1600" dirty="0"/>
            </a:br>
            <a:r>
              <a:rPr lang="en-IN" sz="1600" dirty="0"/>
              <a:t>A translation-based mechanism is implemented using </a:t>
            </a:r>
            <a:r>
              <a:rPr lang="en-IN" sz="1600" dirty="0" err="1"/>
              <a:t>TextBlob</a:t>
            </a:r>
            <a:r>
              <a:rPr lang="en-IN" sz="1600" dirty="0"/>
              <a:t> and Google Translator to detect Hindi words written in Latin script and convert them into English, resolving language ambiguity.</a:t>
            </a:r>
          </a:p>
          <a:p>
            <a:pPr lvl="0"/>
            <a:r>
              <a:rPr lang="en-IN" sz="1600" b="1" dirty="0"/>
              <a:t>Model Training</a:t>
            </a:r>
            <a:br>
              <a:rPr lang="en-IN" sz="1600" dirty="0"/>
            </a:br>
            <a:r>
              <a:rPr lang="en-IN" sz="1600" dirty="0"/>
              <a:t>The processed dataset is split into training (85%) and testing (15%). Seven classical machine learning classifiers are trained independently on the training data.</a:t>
            </a:r>
          </a:p>
          <a:p>
            <a:pPr lvl="0"/>
            <a:r>
              <a:rPr lang="en-IN" sz="1600" b="1" dirty="0"/>
              <a:t>Ensemble Model Construction</a:t>
            </a:r>
            <a:br>
              <a:rPr lang="en-IN" sz="1600" dirty="0"/>
            </a:br>
            <a:r>
              <a:rPr lang="en-IN" sz="1600" dirty="0"/>
              <a:t>A voting-based ensemble model is created by combining the predictions of all classifiers to improve robustness and accuracy.</a:t>
            </a:r>
          </a:p>
          <a:p>
            <a:pPr lvl="0"/>
            <a:r>
              <a:rPr lang="en-IN" sz="1600" b="1" dirty="0"/>
              <a:t>Evaluation</a:t>
            </a:r>
            <a:br>
              <a:rPr lang="en-IN" sz="1600" dirty="0"/>
            </a:br>
            <a:r>
              <a:rPr lang="en-IN" sz="1600" dirty="0"/>
              <a:t>The performance of individual classifiers and the ensemble model is evaluated using accuracy, precision, recall, F1-score, and confusion matrix analysis.</a:t>
            </a:r>
          </a:p>
          <a:p>
            <a:r>
              <a:rPr lang="en-IN" dirty="0"/>
              <a:t> </a:t>
            </a:r>
          </a:p>
          <a:p>
            <a:endParaRPr lang="en-IN" sz="2500" dirty="0"/>
          </a:p>
          <a:p>
            <a:endParaRPr lang="en-IN" sz="2500" u="sng"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7">
          <a:extLst>
            <a:ext uri="{FF2B5EF4-FFF2-40B4-BE49-F238E27FC236}">
              <a16:creationId xmlns:a16="http://schemas.microsoft.com/office/drawing/2014/main" id="{F6F425BB-7D49-FEC0-9043-CD0F23B70F4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2A3C640-74B6-4B82-BB9E-2288517F1F0E}"/>
              </a:ext>
            </a:extLst>
          </p:cNvPr>
          <p:cNvSpPr txBox="1"/>
          <p:nvPr/>
        </p:nvSpPr>
        <p:spPr>
          <a:xfrm>
            <a:off x="808521" y="182880"/>
            <a:ext cx="11097929" cy="4878259"/>
          </a:xfrm>
          <a:prstGeom prst="rect">
            <a:avLst/>
          </a:prstGeom>
          <a:noFill/>
        </p:spPr>
        <p:txBody>
          <a:bodyPr wrap="square" rtlCol="0">
            <a:spAutoFit/>
          </a:bodyPr>
          <a:lstStyle/>
          <a:p>
            <a:r>
              <a:rPr lang="en-US" sz="3600" b="1" u="sng" dirty="0"/>
              <a:t>Results </a:t>
            </a:r>
          </a:p>
          <a:p>
            <a:r>
              <a:rPr lang="en-US" sz="2500" dirty="0"/>
              <a:t>The performance of all individual classifiers is evaluated using accuracy, precision, recall, and F1-score. Experimental results show that while individual classifiers perform reasonably well, their predictions vary due to differences in learning behavior.</a:t>
            </a:r>
          </a:p>
          <a:p>
            <a:r>
              <a:rPr lang="en-US" sz="2500" dirty="0"/>
              <a:t>The </a:t>
            </a:r>
            <a:r>
              <a:rPr lang="en-US" sz="2500" b="1" dirty="0"/>
              <a:t>voting-based hybrid ensemble model</a:t>
            </a:r>
            <a:r>
              <a:rPr lang="en-US" sz="2500" dirty="0"/>
              <a:t> achieves the </a:t>
            </a:r>
            <a:r>
              <a:rPr lang="en-US" sz="2500" b="1" dirty="0"/>
              <a:t>highest accuracy</a:t>
            </a:r>
            <a:r>
              <a:rPr lang="en-US" sz="2500" dirty="0"/>
              <a:t> among all models by combining the strengths of individual classifiers and reducing bias and variance. The confusion matrix analysis further confirms improved classification balance for both positive and negative classes. These results demonstrate that ensemble learning is an effective approach for </a:t>
            </a:r>
            <a:r>
              <a:rPr lang="en-US" sz="2500" b="1" dirty="0"/>
              <a:t>bilingual Hinglish sentiment analysis</a:t>
            </a:r>
            <a:r>
              <a:rPr lang="en-US" sz="2500" dirty="0"/>
              <a:t>.</a:t>
            </a:r>
          </a:p>
          <a:p>
            <a:endParaRPr lang="en-IN" sz="2500" dirty="0"/>
          </a:p>
        </p:txBody>
      </p:sp>
    </p:spTree>
    <p:extLst>
      <p:ext uri="{BB962C8B-B14F-4D97-AF65-F5344CB8AC3E}">
        <p14:creationId xmlns:p14="http://schemas.microsoft.com/office/powerpoint/2010/main" val="22648060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B9F62B5D-7837-4FED-AFC1-0979BC1454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935" y="1049322"/>
            <a:ext cx="4845376" cy="198149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8">
            <a:hlinkClick r:id="rId3"/>
            <a:extLst>
              <a:ext uri="{FF2B5EF4-FFF2-40B4-BE49-F238E27FC236}">
                <a16:creationId xmlns:a16="http://schemas.microsoft.com/office/drawing/2014/main" id="{FDF39A97-A6F6-510C-54DF-78783B1506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72142" y="1049322"/>
            <a:ext cx="4845376" cy="198169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7C786E6F-0A0B-3850-54E6-61655DA443C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0935" y="3577422"/>
            <a:ext cx="5265065" cy="223125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B73D6BE9-DBE3-EBFB-53FC-2A038F2A61A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72142" y="3756482"/>
            <a:ext cx="4765594" cy="187313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F950FE1-7363-3A56-E4A9-6AD1047CBE27}"/>
              </a:ext>
            </a:extLst>
          </p:cNvPr>
          <p:cNvSpPr txBox="1"/>
          <p:nvPr/>
        </p:nvSpPr>
        <p:spPr>
          <a:xfrm>
            <a:off x="830935" y="179552"/>
            <a:ext cx="6094428" cy="646331"/>
          </a:xfrm>
          <a:prstGeom prst="rect">
            <a:avLst/>
          </a:prstGeom>
          <a:noFill/>
        </p:spPr>
        <p:txBody>
          <a:bodyPr wrap="square">
            <a:spAutoFit/>
          </a:bodyPr>
          <a:lstStyle/>
          <a:p>
            <a:r>
              <a:rPr lang="en-IN" sz="3600" b="1" u="sng" dirty="0"/>
              <a:t>Performance</a:t>
            </a:r>
            <a:endParaRPr lang="en-IN" sz="3600" dirty="0"/>
          </a:p>
        </p:txBody>
      </p:sp>
    </p:spTree>
    <p:extLst>
      <p:ext uri="{BB962C8B-B14F-4D97-AF65-F5344CB8AC3E}">
        <p14:creationId xmlns:p14="http://schemas.microsoft.com/office/powerpoint/2010/main" val="18747899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hlinkClick r:id="rId2" tgtFrame="&quot;_blank&quot;"/>
            <a:extLst>
              <a:ext uri="{FF2B5EF4-FFF2-40B4-BE49-F238E27FC236}">
                <a16:creationId xmlns:a16="http://schemas.microsoft.com/office/drawing/2014/main" id="{511B0F36-03BA-7AAB-50CA-1996D333F7E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71548" y="507279"/>
            <a:ext cx="4762501" cy="1971969"/>
          </a:xfrm>
          <a:prstGeom prst="rect">
            <a:avLst/>
          </a:prstGeom>
          <a:noFill/>
          <a:ln>
            <a:noFill/>
          </a:ln>
        </p:spPr>
      </p:pic>
      <p:pic>
        <p:nvPicPr>
          <p:cNvPr id="5" name="Picture 4">
            <a:hlinkClick r:id="rId4" tgtFrame="&quot;_blank&quot;"/>
            <a:extLst>
              <a:ext uri="{FF2B5EF4-FFF2-40B4-BE49-F238E27FC236}">
                <a16:creationId xmlns:a16="http://schemas.microsoft.com/office/drawing/2014/main" id="{3013EF4F-AB26-3B6E-52D9-AEE9A7655E84}"/>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812437" y="507280"/>
            <a:ext cx="4762500" cy="1971968"/>
          </a:xfrm>
          <a:prstGeom prst="rect">
            <a:avLst/>
          </a:prstGeom>
          <a:noFill/>
          <a:ln>
            <a:noFill/>
          </a:ln>
        </p:spPr>
      </p:pic>
      <p:pic>
        <p:nvPicPr>
          <p:cNvPr id="6" name="Picture 5">
            <a:hlinkClick r:id="rId6" tgtFrame="&quot;_blank&quot;"/>
            <a:extLst>
              <a:ext uri="{FF2B5EF4-FFF2-40B4-BE49-F238E27FC236}">
                <a16:creationId xmlns:a16="http://schemas.microsoft.com/office/drawing/2014/main" id="{E8B4ABAC-D1BA-F043-6995-956450C471E5}"/>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971548" y="3318235"/>
            <a:ext cx="4943475" cy="2089117"/>
          </a:xfrm>
          <a:prstGeom prst="rect">
            <a:avLst/>
          </a:prstGeom>
          <a:noFill/>
          <a:ln>
            <a:noFill/>
          </a:ln>
        </p:spPr>
      </p:pic>
      <p:pic>
        <p:nvPicPr>
          <p:cNvPr id="7" name="Picture 6">
            <a:hlinkClick r:id="rId8" tgtFrame="&quot;_blank&quot;"/>
            <a:extLst>
              <a:ext uri="{FF2B5EF4-FFF2-40B4-BE49-F238E27FC236}">
                <a16:creationId xmlns:a16="http://schemas.microsoft.com/office/drawing/2014/main" id="{EF659DA4-3459-C437-3611-DE1E509A3BF4}"/>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6561056" y="3543334"/>
            <a:ext cx="5102454" cy="1864018"/>
          </a:xfrm>
          <a:prstGeom prst="rect">
            <a:avLst/>
          </a:prstGeom>
          <a:noFill/>
          <a:ln>
            <a:noFill/>
          </a:ln>
        </p:spPr>
      </p:pic>
    </p:spTree>
    <p:extLst>
      <p:ext uri="{BB962C8B-B14F-4D97-AF65-F5344CB8AC3E}">
        <p14:creationId xmlns:p14="http://schemas.microsoft.com/office/powerpoint/2010/main" val="3878714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EAD7FA37-F432-941A-30C4-14A98D51659F}"/>
              </a:ext>
            </a:extLst>
          </p:cNvPr>
          <p:cNvSpPr>
            <a:spLocks noChangeArrowheads="1"/>
          </p:cNvSpPr>
          <p:nvPr/>
        </p:nvSpPr>
        <p:spPr bwMode="auto">
          <a:xfrm>
            <a:off x="744716" y="189455"/>
            <a:ext cx="10576875" cy="1661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1" i="0" u="sng" strike="noStrike" cap="none" normalizeH="0" baseline="0" dirty="0">
                <a:ln>
                  <a:noFill/>
                </a:ln>
                <a:solidFill>
                  <a:schemeClr val="tx1"/>
                </a:solidFill>
                <a:effectLst/>
                <a:latin typeface="+mj-lt"/>
                <a:ea typeface="Aptos" panose="020B0004020202020204" pitchFamily="34" charset="0"/>
                <a:cs typeface="Times New Roman" panose="02020603050405020304" pitchFamily="18" charset="0"/>
              </a:rPr>
              <a:t>Confusion Matrix</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000" b="1" i="0" u="sng" strike="noStrike" cap="none" normalizeH="0" baseline="0" dirty="0">
                <a:ln>
                  <a:noFill/>
                </a:ln>
                <a:solidFill>
                  <a:schemeClr val="tx1"/>
                </a:solidFill>
                <a:effectLst/>
                <a:latin typeface="+mj-lt"/>
                <a:ea typeface="Aptos" panose="020B0004020202020204" pitchFamily="34" charset="0"/>
                <a:cs typeface="Times New Roman" panose="02020603050405020304" pitchFamily="18" charset="0"/>
              </a:rPr>
              <a:t>Confusion Matrix before normalization (Trained Data)</a:t>
            </a:r>
            <a:endParaRPr kumimoji="0" lang="en-US" altLang="en-US" sz="3000" b="1" i="0" u="sng"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600" b="1" i="0" u="sng" strike="noStrike" cap="none" normalizeH="0" baseline="0" dirty="0">
              <a:ln>
                <a:noFill/>
              </a:ln>
              <a:solidFill>
                <a:schemeClr val="tx1"/>
              </a:solidFill>
              <a:effectLst/>
              <a:latin typeface="+mj-lt"/>
            </a:endParaRPr>
          </a:p>
        </p:txBody>
      </p:sp>
      <p:pic>
        <p:nvPicPr>
          <p:cNvPr id="7169" name="Picture 22">
            <a:hlinkClick r:id="rId2"/>
            <a:extLst>
              <a:ext uri="{FF2B5EF4-FFF2-40B4-BE49-F238E27FC236}">
                <a16:creationId xmlns:a16="http://schemas.microsoft.com/office/drawing/2014/main" id="{2CC52378-55D4-8692-1723-2D3761C401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8164" y="1593130"/>
            <a:ext cx="7843101" cy="37235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86628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C10AB2-F706-4D74-3B84-FB4715E65765}"/>
              </a:ext>
            </a:extLst>
          </p:cNvPr>
          <p:cNvSpPr txBox="1"/>
          <p:nvPr/>
        </p:nvSpPr>
        <p:spPr>
          <a:xfrm>
            <a:off x="716438" y="166623"/>
            <a:ext cx="10529740" cy="55399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000" b="1" i="0" u="sng" strike="noStrike" cap="none" normalizeH="0" baseline="0" dirty="0">
                <a:ln>
                  <a:noFill/>
                </a:ln>
                <a:solidFill>
                  <a:schemeClr val="tx1"/>
                </a:solidFill>
                <a:effectLst/>
                <a:latin typeface="+mj-lt"/>
                <a:ea typeface="Aptos" panose="020B0004020202020204" pitchFamily="34" charset="0"/>
                <a:cs typeface="Times New Roman" panose="02020603050405020304" pitchFamily="18" charset="0"/>
              </a:rPr>
              <a:t>Confusion Matrix before normalization (Trained Data)</a:t>
            </a:r>
            <a:endParaRPr kumimoji="0" lang="en-US" altLang="en-US" sz="3000" b="1" i="0" u="sng" strike="noStrike" cap="none" normalizeH="0" baseline="0" dirty="0">
              <a:ln>
                <a:noFill/>
              </a:ln>
              <a:solidFill>
                <a:schemeClr val="tx1"/>
              </a:solidFill>
              <a:effectLst/>
              <a:latin typeface="+mj-lt"/>
            </a:endParaRPr>
          </a:p>
        </p:txBody>
      </p:sp>
      <p:pic>
        <p:nvPicPr>
          <p:cNvPr id="4" name="Picture 3">
            <a:hlinkClick r:id="rId2" tgtFrame="&quot;_blank&quot;"/>
            <a:extLst>
              <a:ext uri="{FF2B5EF4-FFF2-40B4-BE49-F238E27FC236}">
                <a16:creationId xmlns:a16="http://schemas.microsoft.com/office/drawing/2014/main" id="{2AB8CAD0-6AF8-7154-5425-6823478CC83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20272" y="1366297"/>
            <a:ext cx="6447933" cy="4016407"/>
          </a:xfrm>
          <a:prstGeom prst="rect">
            <a:avLst/>
          </a:prstGeom>
          <a:noFill/>
          <a:ln>
            <a:noFill/>
          </a:ln>
        </p:spPr>
      </p:pic>
    </p:spTree>
    <p:extLst>
      <p:ext uri="{BB962C8B-B14F-4D97-AF65-F5344CB8AC3E}">
        <p14:creationId xmlns:p14="http://schemas.microsoft.com/office/powerpoint/2010/main" val="11475961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ED8A830-F593-93E5-4324-663AF12820E4}"/>
              </a:ext>
            </a:extLst>
          </p:cNvPr>
          <p:cNvSpPr txBox="1"/>
          <p:nvPr/>
        </p:nvSpPr>
        <p:spPr>
          <a:xfrm>
            <a:off x="802131" y="202131"/>
            <a:ext cx="11277574" cy="5647700"/>
          </a:xfrm>
          <a:prstGeom prst="rect">
            <a:avLst/>
          </a:prstGeom>
          <a:noFill/>
        </p:spPr>
        <p:txBody>
          <a:bodyPr wrap="square">
            <a:spAutoFit/>
          </a:bodyPr>
          <a:lstStyle/>
          <a:p>
            <a:r>
              <a:rPr lang="en-IN" sz="3600" b="1" u="sng" dirty="0"/>
              <a:t>Future Work</a:t>
            </a:r>
          </a:p>
          <a:p>
            <a:r>
              <a:rPr lang="en-IN" sz="2500" b="1" dirty="0"/>
              <a:t>Larger &amp; Diverse Data:</a:t>
            </a:r>
            <a:r>
              <a:rPr lang="en-IN" sz="2500" dirty="0"/>
              <a:t> Collect more annotated Hinglish data from different domains (product reviews, news comments) and dialects. Multi-class emotion labels (joy, anger, etc.) would enrich analysis.</a:t>
            </a:r>
          </a:p>
          <a:p>
            <a:r>
              <a:rPr lang="en-IN" sz="2500" b="1" dirty="0"/>
              <a:t>Better Models:</a:t>
            </a:r>
            <a:r>
              <a:rPr lang="en-IN" sz="2500" dirty="0"/>
              <a:t> Explore multilingual transformers fine-tuned with code-mixed objectives (e.g. extended pretraining on Roman Hindi). Investigate lightweight models for efficiency.</a:t>
            </a:r>
          </a:p>
          <a:p>
            <a:r>
              <a:rPr lang="en-IN" sz="2500" b="1" dirty="0"/>
              <a:t>Contextual Understanding:</a:t>
            </a:r>
            <a:r>
              <a:rPr lang="en-IN" sz="2500" dirty="0"/>
              <a:t> Incorporate context (reply threads, user metadata) and sarcasm/idiom detection specifically for Indian languages.</a:t>
            </a:r>
          </a:p>
          <a:p>
            <a:r>
              <a:rPr lang="en-IN" sz="2500" b="1" dirty="0"/>
              <a:t>Interactive Systems:</a:t>
            </a:r>
            <a:r>
              <a:rPr lang="en-IN" sz="2500" dirty="0"/>
              <a:t> Develop sentiment tools that allow users to highlight code-switching patterns, and continually adapt to new slang and spelling.</a:t>
            </a:r>
          </a:p>
          <a:p>
            <a:r>
              <a:rPr lang="en-IN" sz="2500" b="1" dirty="0"/>
              <a:t>Multimodal Signals:</a:t>
            </a:r>
            <a:r>
              <a:rPr lang="en-IN" sz="2500" dirty="0"/>
              <a:t> Many Hinglish posts include emojis, images, or hashtags. Future systems can fuse text with these signals for better sentiment inference.</a:t>
            </a:r>
          </a:p>
        </p:txBody>
      </p:sp>
    </p:spTree>
    <p:extLst>
      <p:ext uri="{BB962C8B-B14F-4D97-AF65-F5344CB8AC3E}">
        <p14:creationId xmlns:p14="http://schemas.microsoft.com/office/powerpoint/2010/main" val="16853327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6D108-3A13-321E-2D86-AB88FF5312FA}"/>
              </a:ext>
            </a:extLst>
          </p:cNvPr>
          <p:cNvSpPr>
            <a:spLocks noGrp="1"/>
          </p:cNvSpPr>
          <p:nvPr>
            <p:ph type="title"/>
          </p:nvPr>
        </p:nvSpPr>
        <p:spPr>
          <a:xfrm>
            <a:off x="4596000" y="2846894"/>
            <a:ext cx="3000000" cy="754145"/>
          </a:xfrm>
        </p:spPr>
        <p:txBody>
          <a:bodyPr/>
          <a:lstStyle/>
          <a:p>
            <a:r>
              <a:rPr lang="en-IN" b="1" u="sng" dirty="0"/>
              <a:t>Thank You</a:t>
            </a:r>
            <a:r>
              <a:rPr lang="en-IN" b="1" dirty="0"/>
              <a:t>!</a:t>
            </a:r>
          </a:p>
        </p:txBody>
      </p:sp>
    </p:spTree>
    <p:extLst>
      <p:ext uri="{BB962C8B-B14F-4D97-AF65-F5344CB8AC3E}">
        <p14:creationId xmlns:p14="http://schemas.microsoft.com/office/powerpoint/2010/main" val="3602842471"/>
      </p:ext>
    </p:extLst>
  </p:cSld>
  <p:clrMapOvr>
    <a:masterClrMapping/>
  </p:clrMapOvr>
</p:sld>
</file>

<file path=ppt/theme/theme1.xml><?xml version="1.0" encoding="utf-8"?>
<a:theme xmlns:a="http://schemas.openxmlformats.org/drawingml/2006/main" name="2_Custom Design">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931</TotalTime>
  <Words>2028</Words>
  <Application>Microsoft Office PowerPoint</Application>
  <PresentationFormat>Widescreen</PresentationFormat>
  <Paragraphs>117</Paragraphs>
  <Slides>21</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Courier New</vt:lpstr>
      <vt:lpstr>Times New Roman</vt:lpstr>
      <vt:lpstr>2_Custom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DataSet</vt:lpstr>
      <vt:lpstr>PowerPoint Presentation</vt:lpstr>
      <vt:lpstr>PowerPoint Presentation</vt:lpstr>
      <vt:lpstr>PowerPoint Presentation</vt:lpstr>
      <vt:lpstr>PowerPoint Presentation</vt:lpstr>
      <vt:lpstr>Feature Extraction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chinmay oak</dc:creator>
  <cp:lastModifiedBy>Vedant Rathi</cp:lastModifiedBy>
  <cp:revision>53</cp:revision>
  <dcterms:modified xsi:type="dcterms:W3CDTF">2025-12-23T19:32:57Z</dcterms:modified>
</cp:coreProperties>
</file>